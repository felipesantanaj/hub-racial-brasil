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  <p:sldId id="763" r:id="rId514"/>
    <p:sldId id="764" r:id="rId515"/>
    <p:sldId id="765" r:id="rId516"/>
    <p:sldId id="766" r:id="rId517"/>
    <p:sldId id="767" r:id="rId518"/>
    <p:sldId id="768" r:id="rId519"/>
    <p:sldId id="769" r:id="rId520"/>
    <p:sldId id="770" r:id="rId521"/>
    <p:sldId id="771" r:id="rId522"/>
    <p:sldId id="772" r:id="rId523"/>
    <p:sldId id="773" r:id="rId524"/>
    <p:sldId id="774" r:id="rId525"/>
    <p:sldId id="775" r:id="rId526"/>
    <p:sldId id="776" r:id="rId527"/>
    <p:sldId id="777" r:id="rId528"/>
    <p:sldId id="778" r:id="rId529"/>
    <p:sldId id="779" r:id="rId530"/>
    <p:sldId id="780" r:id="rId531"/>
    <p:sldId id="781" r:id="rId532"/>
    <p:sldId id="782" r:id="rId533"/>
    <p:sldId id="783" r:id="rId534"/>
    <p:sldId id="784" r:id="rId535"/>
    <p:sldId id="785" r:id="rId536"/>
    <p:sldId id="786" r:id="rId5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Relationship Id="rId514" Type="http://schemas.openxmlformats.org/officeDocument/2006/relationships/slide" Target="slides/slide508.xml"/><Relationship Id="rId515" Type="http://schemas.openxmlformats.org/officeDocument/2006/relationships/slide" Target="slides/slide509.xml"/><Relationship Id="rId516" Type="http://schemas.openxmlformats.org/officeDocument/2006/relationships/slide" Target="slides/slide510.xml"/><Relationship Id="rId517" Type="http://schemas.openxmlformats.org/officeDocument/2006/relationships/slide" Target="slides/slide511.xml"/><Relationship Id="rId518" Type="http://schemas.openxmlformats.org/officeDocument/2006/relationships/slide" Target="slides/slide512.xml"/><Relationship Id="rId519" Type="http://schemas.openxmlformats.org/officeDocument/2006/relationships/slide" Target="slides/slide513.xml"/><Relationship Id="rId520" Type="http://schemas.openxmlformats.org/officeDocument/2006/relationships/slide" Target="slides/slide514.xml"/><Relationship Id="rId521" Type="http://schemas.openxmlformats.org/officeDocument/2006/relationships/slide" Target="slides/slide515.xml"/><Relationship Id="rId522" Type="http://schemas.openxmlformats.org/officeDocument/2006/relationships/slide" Target="slides/slide516.xml"/><Relationship Id="rId523" Type="http://schemas.openxmlformats.org/officeDocument/2006/relationships/slide" Target="slides/slide517.xml"/><Relationship Id="rId524" Type="http://schemas.openxmlformats.org/officeDocument/2006/relationships/slide" Target="slides/slide518.xml"/><Relationship Id="rId525" Type="http://schemas.openxmlformats.org/officeDocument/2006/relationships/slide" Target="slides/slide519.xml"/><Relationship Id="rId526" Type="http://schemas.openxmlformats.org/officeDocument/2006/relationships/slide" Target="slides/slide520.xml"/><Relationship Id="rId527" Type="http://schemas.openxmlformats.org/officeDocument/2006/relationships/slide" Target="slides/slide521.xml"/><Relationship Id="rId528" Type="http://schemas.openxmlformats.org/officeDocument/2006/relationships/slide" Target="slides/slide522.xml"/><Relationship Id="rId529" Type="http://schemas.openxmlformats.org/officeDocument/2006/relationships/slide" Target="slides/slide523.xml"/><Relationship Id="rId530" Type="http://schemas.openxmlformats.org/officeDocument/2006/relationships/slide" Target="slides/slide524.xml"/><Relationship Id="rId531" Type="http://schemas.openxmlformats.org/officeDocument/2006/relationships/slide" Target="slides/slide525.xml"/><Relationship Id="rId532" Type="http://schemas.openxmlformats.org/officeDocument/2006/relationships/slide" Target="slides/slide526.xml"/><Relationship Id="rId533" Type="http://schemas.openxmlformats.org/officeDocument/2006/relationships/slide" Target="slides/slide527.xml"/><Relationship Id="rId534" Type="http://schemas.openxmlformats.org/officeDocument/2006/relationships/slide" Target="slides/slide528.xml"/><Relationship Id="rId535" Type="http://schemas.openxmlformats.org/officeDocument/2006/relationships/slide" Target="slides/slide529.xml"/><Relationship Id="rId536" Type="http://schemas.openxmlformats.org/officeDocument/2006/relationships/slide" Target="slides/slide530.xml"/><Relationship Id="rId537" Type="http://schemas.openxmlformats.org/officeDocument/2006/relationships/slide" Target="slides/slide5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1.png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2.png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3.png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6.png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7.png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8.png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0.png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1.png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2.png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6.png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7.png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8.png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2.png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4.png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3.png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8.png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9.png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5.png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7.png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8.png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0.png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2.png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3.png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6.png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7.png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0.png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3.png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5.png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7.png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0.png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1.png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4.png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9.png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0.png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4.png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5.png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7.png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8.png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2.png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3.png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4.png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6.png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7.png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8.png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9.png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3.png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4.png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5.png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/Relationships>
</file>

<file path=ppt/slides/_rels/slide5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7.png"/></Relationships>
</file>

<file path=ppt/slides/_rels/slide5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8.png"/></Relationships>
</file>

<file path=ppt/slides/_rels/slide5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9.png"/></Relationships>
</file>

<file path=ppt/slides/_rels/slide5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0.png"/></Relationships>
</file>

<file path=ppt/slides/_rels/slide5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1.png"/></Relationships>
</file>

<file path=ppt/slides/_rels/slide5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2.png"/></Relationships>
</file>

<file path=ppt/slides/_rels/slide5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3.png"/></Relationships>
</file>

<file path=ppt/slides/_rels/slide5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/Relationships>
</file>

<file path=ppt/slides/_rels/slide5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5.png"/></Relationships>
</file>

<file path=ppt/slides/_rels/slide5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6.png"/></Relationships>
</file>

<file path=ppt/slides/_rels/slide5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/Relationships>
</file>

<file path=ppt/slides/_rels/slide5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/Relationships>
</file>

<file path=ppt/slides/_rels/slide5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9.png"/></Relationships>
</file>

<file path=ppt/slides/_rels/slide5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0.png"/></Relationships>
</file>

<file path=ppt/slides/_rels/slide5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/Relationships>
</file>

<file path=ppt/slides/_rels/slide5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2.png"/></Relationships>
</file>

<file path=ppt/slides/_rels/slide5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3.png"/></Relationships>
</file>

<file path=ppt/slides/_rels/slide5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4.png"/></Relationships>
</file>

<file path=ppt/slides/_rels/slide5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5.png"/></Relationships>
</file>

<file path=ppt/slides/_rels/slide5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/Relationships>
</file>

<file path=ppt/slides/_rels/slide5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/Relationships>
</file>

<file path=ppt/slides/_rels/slide5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/Relationships>
</file>

<file path=ppt/slides/_rels/slide5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/Relationships>
</file>

<file path=ppt/slides/_rels/slide5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2B2018"/>
                </a:solidFill>
              </a:defRPr>
            </a:pPr>
            <a:r>
              <a:t>Datahub de Análise Racial no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5C4F3F"/>
                </a:solidFill>
              </a:defRPr>
            </a:pPr>
            <a:r>
              <a:t>Renda por raça — árvore cruzada (Raça × Gênero × Faixa/Geração × Escolaridade)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8271"/>
                </a:solidFill>
              </a:defRPr>
            </a:pPr>
            <a:r>
              <a:t>PNAD Contínua Trimestral (2012–2026) · cada gráfico aparece em um único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D9086"/>
                </a:solidFill>
              </a:defRPr>
            </a:pPr>
            <a:r>
              <a:t>Índice — árvore de renda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1. Raça  —  4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2. Raça × Gênero  —  11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3. Raça × Faixa Etária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4. Raça × Geração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5. Raça × Escolaridade  —  28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6. Raça × Gênero × Faixa Etária  —  38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7. Raça × Gênero × Geração  —  38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8. Raça × Gênero × Escolaridade  —  55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9. Raça × Gênero × Faixa Etária × Escolaridade  —  115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10. Raça × Gênero × Geração × Escolaridade  —  115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11. Raça × Geração × Escolaridade (ambos os gêneros)  —  58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1.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 de renda · 3 de hiato · Renda por raça (Branca / Negra=Preta+Parda / Indígena): série 2012–2026. Hiato: série separada por comparação (vs. Negra / vs. Indígena); o snapshot é 1 gráfico com as 2 barras. Série de Indígena suavizada (amostra pequena).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aca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aca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aca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e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aca_hiat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066" y="1536192"/>
            <a:ext cx="642756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e Branca vs. Indígena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2.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3 de renda · 8 de hiato · Renda: série combinada (Homens tracejado, Mulheres sólido) + Mulheres + Homens. Hiato: série (combinada + por gênero) e snapshot, cada comparação em seu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e gênero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comb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e gênero — série (6 linhas).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mulhere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homen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mulhere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mulhere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homen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homen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3. Raça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Renda: série combinada em 3 slides (um por raça) + uma por faixa. Hiato: série (combinada + por faixa, com a faixa no título) e snapshot, cada comparação em seu slide.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4. Raça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Idem por geração (mesma coorte de nascimento).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2" y="1536192"/>
            <a:ext cx="1066137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5. Raça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10 de renda · 18 de hiato · Idem por nível de instrução (7 níveis).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2" y="1536192"/>
            <a:ext cx="1066137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6. Raça × Gênero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gênero×faixa. Por gênero: renda (série combinada + uma por faixa) + hiato por comparação (série combinada, série por faixa, snapshot).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Mulheres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2152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Homens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7. Raça × Gênero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gênero×geração.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Mulheres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644" y="1536192"/>
            <a:ext cx="477840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Homens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422" y="1536192"/>
            <a:ext cx="1041285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8. Raça × Gênero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20 de renda · 35 de hiato · Quebra CRUZADA gênero×escolaridade.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Mulheres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32" y="1536192"/>
            <a:ext cx="998903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241" y="1536192"/>
            <a:ext cx="1034921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232" y="1536192"/>
            <a:ext cx="1038523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Homens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9. Raça × Gênero × Faixa Etária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59 de hiato · Quebra CRUZADA gênero×faixa×escolaridade — 70 células (série de renda + série de hiato Branca-vs-Negra por célula). Indígena via 2 heatmaps por gênero (vs. Negra / vs. Indígena).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10. Raça × Gênero × Geração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59 de hiato · Quebra CRUZADA gênero×geração×escolaridade — 56 células.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137" y="1536192"/>
            <a:ext cx="1059342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49" y="1536192"/>
            <a:ext cx="277339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186" y="1536192"/>
            <a:ext cx="1056532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11. Raça × Geração × Escolaridade (ambos os gêneros)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28 de renda · 30 de hiato · Geração × Escolaridade com AMBOS os gêneros juntos — 28 células (série de renda + série de hiato por célula) + 2 heatmaps. Fecha a combinação que faltava pra um dashboard geração×escolaridade×gênero.</a:t>
            </a:r>
          </a:p>
        </p:txBody>
      </p:sp>
    </p:spTree>
  </p:cSld>
  <p:clrMapOvr>
    <a:masterClrMapping/>
  </p:clrMapOvr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8756" y="1536192"/>
            <a:ext cx="433418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