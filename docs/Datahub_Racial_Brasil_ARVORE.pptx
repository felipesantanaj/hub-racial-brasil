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  <Override PartName="/ppt/slides/slide527.xml" ContentType="application/vnd.openxmlformats-officedocument.presentationml.slide+xml"/>
  <Override PartName="/ppt/slides/slide528.xml" ContentType="application/vnd.openxmlformats-officedocument.presentationml.slide+xml"/>
  <Override PartName="/ppt/slides/slide529.xml" ContentType="application/vnd.openxmlformats-officedocument.presentationml.slide+xml"/>
  <Override PartName="/ppt/slides/slide53.xml" ContentType="application/vnd.openxmlformats-officedocument.presentationml.slide+xml"/>
  <Override PartName="/ppt/slides/slide530.xml" ContentType="application/vnd.openxmlformats-officedocument.presentationml.slide+xml"/>
  <Override PartName="/ppt/slides/slide531.xml" ContentType="application/vnd.openxmlformats-officedocument.presentationml.slide+xml"/>
  <Override PartName="/ppt/slides/slide532.xml" ContentType="application/vnd.openxmlformats-officedocument.presentationml.slide+xml"/>
  <Override PartName="/ppt/slides/slide533.xml" ContentType="application/vnd.openxmlformats-officedocument.presentationml.slide+xml"/>
  <Override PartName="/ppt/slides/slide534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  <p:sldId id="756" r:id="rId507"/>
    <p:sldId id="757" r:id="rId508"/>
    <p:sldId id="758" r:id="rId509"/>
    <p:sldId id="759" r:id="rId510"/>
    <p:sldId id="760" r:id="rId511"/>
    <p:sldId id="761" r:id="rId512"/>
    <p:sldId id="762" r:id="rId513"/>
    <p:sldId id="763" r:id="rId514"/>
    <p:sldId id="764" r:id="rId515"/>
    <p:sldId id="765" r:id="rId516"/>
    <p:sldId id="766" r:id="rId517"/>
    <p:sldId id="767" r:id="rId518"/>
    <p:sldId id="768" r:id="rId519"/>
    <p:sldId id="769" r:id="rId520"/>
    <p:sldId id="770" r:id="rId521"/>
    <p:sldId id="771" r:id="rId522"/>
    <p:sldId id="772" r:id="rId523"/>
    <p:sldId id="773" r:id="rId524"/>
    <p:sldId id="774" r:id="rId525"/>
    <p:sldId id="775" r:id="rId526"/>
    <p:sldId id="776" r:id="rId527"/>
    <p:sldId id="777" r:id="rId528"/>
    <p:sldId id="778" r:id="rId529"/>
    <p:sldId id="779" r:id="rId530"/>
    <p:sldId id="780" r:id="rId531"/>
    <p:sldId id="781" r:id="rId532"/>
    <p:sldId id="782" r:id="rId533"/>
    <p:sldId id="783" r:id="rId534"/>
    <p:sldId id="784" r:id="rId535"/>
    <p:sldId id="785" r:id="rId536"/>
    <p:sldId id="786" r:id="rId537"/>
    <p:sldId id="787" r:id="rId538"/>
    <p:sldId id="788" r:id="rId539"/>
    <p:sldId id="789" r:id="rId5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Relationship Id="rId507" Type="http://schemas.openxmlformats.org/officeDocument/2006/relationships/slide" Target="slides/slide501.xml"/><Relationship Id="rId508" Type="http://schemas.openxmlformats.org/officeDocument/2006/relationships/slide" Target="slides/slide502.xml"/><Relationship Id="rId509" Type="http://schemas.openxmlformats.org/officeDocument/2006/relationships/slide" Target="slides/slide503.xml"/><Relationship Id="rId510" Type="http://schemas.openxmlformats.org/officeDocument/2006/relationships/slide" Target="slides/slide504.xml"/><Relationship Id="rId511" Type="http://schemas.openxmlformats.org/officeDocument/2006/relationships/slide" Target="slides/slide505.xml"/><Relationship Id="rId512" Type="http://schemas.openxmlformats.org/officeDocument/2006/relationships/slide" Target="slides/slide506.xml"/><Relationship Id="rId513" Type="http://schemas.openxmlformats.org/officeDocument/2006/relationships/slide" Target="slides/slide507.xml"/><Relationship Id="rId514" Type="http://schemas.openxmlformats.org/officeDocument/2006/relationships/slide" Target="slides/slide508.xml"/><Relationship Id="rId515" Type="http://schemas.openxmlformats.org/officeDocument/2006/relationships/slide" Target="slides/slide509.xml"/><Relationship Id="rId516" Type="http://schemas.openxmlformats.org/officeDocument/2006/relationships/slide" Target="slides/slide510.xml"/><Relationship Id="rId517" Type="http://schemas.openxmlformats.org/officeDocument/2006/relationships/slide" Target="slides/slide511.xml"/><Relationship Id="rId518" Type="http://schemas.openxmlformats.org/officeDocument/2006/relationships/slide" Target="slides/slide512.xml"/><Relationship Id="rId519" Type="http://schemas.openxmlformats.org/officeDocument/2006/relationships/slide" Target="slides/slide513.xml"/><Relationship Id="rId520" Type="http://schemas.openxmlformats.org/officeDocument/2006/relationships/slide" Target="slides/slide514.xml"/><Relationship Id="rId521" Type="http://schemas.openxmlformats.org/officeDocument/2006/relationships/slide" Target="slides/slide515.xml"/><Relationship Id="rId522" Type="http://schemas.openxmlformats.org/officeDocument/2006/relationships/slide" Target="slides/slide516.xml"/><Relationship Id="rId523" Type="http://schemas.openxmlformats.org/officeDocument/2006/relationships/slide" Target="slides/slide517.xml"/><Relationship Id="rId524" Type="http://schemas.openxmlformats.org/officeDocument/2006/relationships/slide" Target="slides/slide518.xml"/><Relationship Id="rId525" Type="http://schemas.openxmlformats.org/officeDocument/2006/relationships/slide" Target="slides/slide519.xml"/><Relationship Id="rId526" Type="http://schemas.openxmlformats.org/officeDocument/2006/relationships/slide" Target="slides/slide520.xml"/><Relationship Id="rId527" Type="http://schemas.openxmlformats.org/officeDocument/2006/relationships/slide" Target="slides/slide521.xml"/><Relationship Id="rId528" Type="http://schemas.openxmlformats.org/officeDocument/2006/relationships/slide" Target="slides/slide522.xml"/><Relationship Id="rId529" Type="http://schemas.openxmlformats.org/officeDocument/2006/relationships/slide" Target="slides/slide523.xml"/><Relationship Id="rId530" Type="http://schemas.openxmlformats.org/officeDocument/2006/relationships/slide" Target="slides/slide524.xml"/><Relationship Id="rId531" Type="http://schemas.openxmlformats.org/officeDocument/2006/relationships/slide" Target="slides/slide525.xml"/><Relationship Id="rId532" Type="http://schemas.openxmlformats.org/officeDocument/2006/relationships/slide" Target="slides/slide526.xml"/><Relationship Id="rId533" Type="http://schemas.openxmlformats.org/officeDocument/2006/relationships/slide" Target="slides/slide527.xml"/><Relationship Id="rId534" Type="http://schemas.openxmlformats.org/officeDocument/2006/relationships/slide" Target="slides/slide528.xml"/><Relationship Id="rId535" Type="http://schemas.openxmlformats.org/officeDocument/2006/relationships/slide" Target="slides/slide529.xml"/><Relationship Id="rId536" Type="http://schemas.openxmlformats.org/officeDocument/2006/relationships/slide" Target="slides/slide530.xml"/><Relationship Id="rId537" Type="http://schemas.openxmlformats.org/officeDocument/2006/relationships/slide" Target="slides/slide531.xml"/><Relationship Id="rId538" Type="http://schemas.openxmlformats.org/officeDocument/2006/relationships/slide" Target="slides/slide532.xml"/><Relationship Id="rId539" Type="http://schemas.openxmlformats.org/officeDocument/2006/relationships/slide" Target="slides/slide533.xml"/><Relationship Id="rId540" Type="http://schemas.openxmlformats.org/officeDocument/2006/relationships/slide" Target="slides/slide5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7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png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pn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png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png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png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png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2.png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3.png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4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7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9.png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0.png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png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2.png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3.png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4.png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png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7.png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9.png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png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2.png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3.png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4.png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png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6.png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7.png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8.png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9.png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png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1.png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2.png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3.png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4.png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png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5.png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6.png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7.png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9.png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0.png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1.png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3.png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png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5.png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7.png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8.png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9.png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0.png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1.png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2.png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png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4.png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5.png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7.png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png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0.png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1.png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2.png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3.png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4.png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5.png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6.png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8.png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png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2.png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3.png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4.png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png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6.png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7.png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8.png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0.png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1.png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2.png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3.png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4.png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5.png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6.png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7.png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8.png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9.png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0.png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1.png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2.png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3.png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4.png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5.png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6.png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7.png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9.png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0.png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1.png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2.png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3.png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4.png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5.png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6.png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7.png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8.png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9.png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0.png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1.png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2.png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3.png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4.png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5.png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6.png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7.png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8.png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9.png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0.png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1.png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2.png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3.png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4.png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5.png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6.png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7.png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8.png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9.png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0.png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1.png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2.png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3.png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4.png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5.png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6.png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7.png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8.png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9.png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0.png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1.png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2.png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3.png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4.png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5.png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6.png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7.png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8.png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9.png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0.png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1.png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2.png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3.png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4.png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5.png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6.png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7.png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8.png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9.png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0.png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1.png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2.png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3.png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4.png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5.png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6.png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7.png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8.png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9.png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0.png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1.png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2.png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3.png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4.png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5.png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6.png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7.png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8.png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9.png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0.png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1.png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2.png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3.png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4.png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5.png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6.png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7.png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8.png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9.png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0.png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1.png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png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2.png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3.png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4.png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5.png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6.png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7.png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8.png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9.png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0.png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1.png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2.png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3.png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4.png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5.png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6.png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7.png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8.png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9.png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0.png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1.png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2.png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3.png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4.png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5.png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6.png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7.png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8.png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9.png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0.png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1.png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2.png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3.png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4.png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5.png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6.png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7.png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8.png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9.png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0.png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1.png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2.png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3.png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4.png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5.png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6.png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7.png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8.png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9.png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0.png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1.png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2.png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3.png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4.png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5.png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6.png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7.png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8.png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9.png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0.png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1.png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2.png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3.png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4.png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5.png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6.png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7.png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8.png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9.png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0.png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1.png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2.png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3.png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4.png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5.png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6.png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7.png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8.png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9.png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0.png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1.png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2.png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3.png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4.png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5.png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6.png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7.png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8.png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9.png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0.png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1.png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2.png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3.png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4.png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5.png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6.png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7.png"/></Relationships>
</file>

<file path=ppt/slides/_rels/slide5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8.png"/></Relationships>
</file>

<file path=ppt/slides/_rels/slide5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9.png"/></Relationships>
</file>

<file path=ppt/slides/_rels/slide5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0.png"/></Relationships>
</file>

<file path=ppt/slides/_rels/slide5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1.png"/></Relationships>
</file>

<file path=ppt/slides/_rels/slide5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2.png"/></Relationships>
</file>

<file path=ppt/slides/_rels/slide5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3.png"/></Relationships>
</file>

<file path=ppt/slides/_rels/slide5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4.png"/></Relationships>
</file>

<file path=ppt/slides/_rels/slide5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5.png"/></Relationships>
</file>

<file path=ppt/slides/_rels/slide5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6.png"/></Relationships>
</file>

<file path=ppt/slides/_rels/slide5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7.png"/></Relationships>
</file>

<file path=ppt/slides/_rels/slide5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8.png"/></Relationships>
</file>

<file path=ppt/slides/_rels/slide5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9.png"/></Relationships>
</file>

<file path=ppt/slides/_rels/slide5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0.png"/></Relationships>
</file>

<file path=ppt/slides/_rels/slide5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1.png"/></Relationships>
</file>

<file path=ppt/slides/_rels/slide5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2.png"/></Relationships>
</file>

<file path=ppt/slides/_rels/slide5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3.png"/></Relationships>
</file>

<file path=ppt/slides/_rels/slide5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4.png"/></Relationships>
</file>

<file path=ppt/slides/_rels/slide5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5.png"/></Relationships>
</file>

<file path=ppt/slides/_rels/slide5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6.png"/></Relationships>
</file>

<file path=ppt/slides/_rels/slide5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7.png"/></Relationships>
</file>

<file path=ppt/slides/_rels/slide5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8.png"/></Relationships>
</file>

<file path=ppt/slides/_rels/slide5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9.png"/></Relationships>
</file>

<file path=ppt/slides/_rels/slide5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0.png"/></Relationships>
</file>

<file path=ppt/slides/_rels/slide5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1.png"/></Relationships>
</file>

<file path=ppt/slides/_rels/slide5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2.png"/></Relationships>
</file>

<file path=ppt/slides/_rels/slide5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3.png"/></Relationships>
</file>

<file path=ppt/slides/_rels/slide5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4.png"/></Relationships>
</file>

<file path=ppt/slides/_rels/slide5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5.png"/></Relationships>
</file>

<file path=ppt/slides/_rels/slide5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6.png"/></Relationships>
</file>

<file path=ppt/slides/_rels/slide5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7.png"/></Relationships>
</file>

<file path=ppt/slides/_rels/slide5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8.png"/></Relationships>
</file>

<file path=ppt/slides/_rels/slide5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9.png"/></Relationships>
</file>

<file path=ppt/slides/_rels/slide5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0.png"/></Relationships>
</file>

<file path=ppt/slides/_rels/slide5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2B2018"/>
                </a:solidFill>
              </a:defRPr>
            </a:pPr>
            <a:r>
              <a:t>Datahub de Análise Racial no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3832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5C4F3F"/>
                </a:solidFill>
              </a:defRPr>
            </a:pPr>
            <a:r>
              <a:t>Renda por raça — árvore cruzada (Raça × Gênero × Faixa/Geração × Escolaridade)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8F8271"/>
                </a:solidFill>
              </a:defRPr>
            </a:pPr>
            <a:r>
              <a:t>PNAD Contínua Trimestral (2012–2026) · cada gráfico aparece em um único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0D9086"/>
                </a:solidFill>
              </a:defRPr>
            </a:pPr>
            <a:r>
              <a:t>Índice — árvore de renda por 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1. Raça  —  4 slides</a:t>
            </a:r>
          </a:p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2. Raça × Gênero  —  11 slides</a:t>
            </a:r>
          </a:p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3. Raça × Faixa Etária  —  19 slides</a:t>
            </a:r>
          </a:p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4. Raça × Geração  —  19 slides</a:t>
            </a:r>
          </a:p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5. Raça × Escolaridade  —  28 slides</a:t>
            </a:r>
          </a:p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6. Raça × Gênero × Faixa Etária  —  38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7. Raça × Gênero × Geração  —  38 slides</a:t>
            </a:r>
          </a:p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8. Raça × Gênero × Escolaridade  —  56 slides</a:t>
            </a:r>
          </a:p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9. Raça × Gênero × Faixa Etária × Escolaridade  —  116 slides</a:t>
            </a:r>
          </a:p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10. Raça × Gênero × Geração × Escolaridade  —  116 slides</a:t>
            </a:r>
          </a:p>
          <a:p>
            <a:pPr algn="l">
              <a:defRPr sz="1300" b="0" i="0">
                <a:solidFill>
                  <a:srgbClr val="2B2018"/>
                </a:solidFill>
              </a:defRPr>
            </a:pPr>
            <a:r>
              <a:t>11. Raça × Geração × Escolaridade (ambos os gêneros)  —  58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1. Raça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1 de renda · 3 de hiato · Renda por raça (Branca / Negra=Preta+Parda / Indígena): série 2012–2026. Hiato: série separada por comparação (vs. Negra / vs. Indígena); o snapshot é 1 gráfico com as 2 barras. Série de Indígena suavizada (amostra pequena).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raca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raca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Raça (Brasil)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raca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Raça (Brasil)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Branca vs. Negra e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raca_hiato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066" y="1536192"/>
            <a:ext cx="642756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e Branca vs. Indígena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2. Raça × Gênero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3 de renda · 8 de hiato · Renda: série combinada (Homens tracejado, Mulheres sólido) + Mulheres + Homens. Hiato: série (combinada + por gênero) e snapshot, cada comparação em seu slide.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e gênero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rg_comb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47" y="1536192"/>
            <a:ext cx="107214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e gênero — série (6 linhas).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— Mulheres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rg_mulheres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— Homens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rg_homens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gênero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rg_hiato_comb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71" y="1536192"/>
            <a:ext cx="1062535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por sexo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gênero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rg_hiato_comb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71" y="1536192"/>
            <a:ext cx="1062535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por sexo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— Mulheres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rg_hiato_mulheres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rg_hiato_mulheres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— Homens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rg_hiato_homens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rg_hiato_homens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gênero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rg_hiato_snapshot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606" y="1536192"/>
            <a:ext cx="693048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sexo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gênero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rg_hiato_snapshot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606" y="1536192"/>
            <a:ext cx="693048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sexo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3. Raça × Faixa Etária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7 de renda · 12 de hiato · Renda: série combinada em 3 slides (um por raça) + uma por faixa. Hiato: série (combinada + por faixa, com a faixa no título) e snapshot, cada comparação em seu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Branca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faixa_comb_serie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50" y="1536192"/>
            <a:ext cx="1070939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faixa etaria — Branca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faixa_comb_serie_neg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50" y="1536192"/>
            <a:ext cx="1070939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faixa etaria — Negra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faixa_comb_serie_indig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50" y="1536192"/>
            <a:ext cx="1070939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faixa etaria — Indígena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18-24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faixa_18_24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18-24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25-39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faixa_25_39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25-39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40-59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faixa_40_59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40-59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60+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faixa_60mais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60+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faixa etaria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faixa_hiato_comb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por faixa etaria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faixa etaria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faixa_hiato_comb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por faixa etaria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18-24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faixa_18_24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18-24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18-24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faixa_18_24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18-24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25-39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faixa_25_39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25-39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25-39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faixa_25_39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25-39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40-59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faixa_40_59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40-59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40-59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faixa_40_59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40-59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60+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faixa_60mais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60+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60+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faixa_60mais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60+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faixa etaria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faixa_hiato_snapshot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015" y="1536192"/>
            <a:ext cx="76296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faixa etaria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faixa etaria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faixa_hiato_snapshot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015" y="1536192"/>
            <a:ext cx="76296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faixa etaria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4. Raça × Geração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7 de renda · 12 de hiato · Idem por geração (mesma coorte de nascimento).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Branca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racao_comb_serie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geracao — Branca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racao_comb_serie_neg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geracao — Negra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racao_comb_serie_indig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geracao — Indígena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Baby Boomer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racao_baby_boomer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Baby Boomer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X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racao_geracao_x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X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Millennial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racao_millennia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Millennial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Z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racao_geracao_z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Z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geracao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racao_hiato_comb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por geracao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geracao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eracao_hiato_comb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por geracao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Baby Boomer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racao_baby_boomer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Baby Boomer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Baby Boomer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eracao_baby_boomer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Baby Boomer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X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racao_geracao_x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Geração X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X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eracao_geracao_x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Geração X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Millennial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racao_millennia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Millennial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Millennial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eracao_millennia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Millennial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Z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racao_geracao_z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Geração Z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Z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eracao_geracao_z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Geração Z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geracao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geracao_hiato_snapshot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015" y="1536192"/>
            <a:ext cx="76296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geracao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geracao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geracao_hiato_snapshot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015" y="1536192"/>
            <a:ext cx="76296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geracao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5. Raça × Escolaridade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10 de renda · 18 de hiato · Idem por nível de instrução (7 níveis).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Branca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escol_comb_serie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44" y="1536192"/>
            <a:ext cx="1073340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nivel instrucao — Branca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escol_comb_serie_neg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44" y="1536192"/>
            <a:ext cx="1073340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nivel instrucao — Negra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escol_comb_serie_indig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44" y="1536192"/>
            <a:ext cx="1073340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nivel instrucao — Indígena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escol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escol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escol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escol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escol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escol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escol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nivel instrucao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escol_hiato_comb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56" y="1536192"/>
            <a:ext cx="1068538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por nivel instrucao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nivel instrucao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escol_hiato_comb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53" y="1536192"/>
            <a:ext cx="1069738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por nivel instrucao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escol_sem_instrucao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Sem instrução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escol_sem_instrucao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escol_fundamental_in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Fundamental incompl.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escol_fundamental_in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escol_fundamental_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Fundamental 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escol_fundamental_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escol_medio_in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Médio incompl.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escol_medio_in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escol_medio_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Médio 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escol_medio_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escol_superior_in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Superior incompl.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escol_superior_in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62" y="1536192"/>
            <a:ext cx="1066137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escol_superior_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Superior 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escol_superior_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nivel instrucao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escol_hiato_snapshot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6192"/>
            <a:ext cx="10972800" cy="4286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nivel instrucao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por nivel instrucao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escol_hiato_snapshot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6192"/>
            <a:ext cx="10972800" cy="4286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nivel instrucao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6. Raça × Gênero × Faixa Etária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14 de renda · 24 de hiato · Quebra CRUZADA gênero×faixa. Por gênero: renda (série combinada + uma por faixa) + hiato por comparação (série combinada, série por faixa, snapshot).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Faixa Etária — Mulheres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Mulheres — Branca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mulheres_comb_serie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50" y="1536192"/>
            <a:ext cx="1070939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faixa etaria — Branca — Mulheres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Mulheres —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mulheres_comb_serie_neg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50" y="1536192"/>
            <a:ext cx="1070939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faixa etaria — Negra — Mulheres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Mulheres —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mulheres_comb_serie_indig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50" y="1536192"/>
            <a:ext cx="1070939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faixa etaria — Indígena — Mulheres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18-24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mulheres_18_24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18-24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25-39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mulheres_25_39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25-39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40-59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mulheres_40_59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40-59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60+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mulheres_60mais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60+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faixa etaria — Mulheres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mulheres_hiato_comb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por faixa etaria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faixa etaria — Mulheres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fx_mulheres_hiato_comb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por faixa etaria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18-24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mulheres_18_24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18-24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18-24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fx_mulheres_18_24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18-24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25-39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mulheres_25_39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25-39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25-39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fx_mulheres_25_39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25-39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40-59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mulheres_40_59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40-59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40-59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fx_mulheres_40_59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40-59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60+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mulheres_60mais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60+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60+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fx_mulheres_60mais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56" y="1536192"/>
            <a:ext cx="1068538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60+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faixa etaria — Mulheres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mulheres</a:t>
            </a:r>
          </a:p>
        </p:txBody>
      </p:sp>
      <p:pic>
        <p:nvPicPr>
          <p:cNvPr id="4" name="Picture 3" descr="arv_gfx_mulheres_hiato_snapshot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015" y="1536192"/>
            <a:ext cx="76296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faixa etaria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faixa etaria — Mulheres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mulheres</a:t>
            </a:r>
          </a:p>
        </p:txBody>
      </p:sp>
      <p:pic>
        <p:nvPicPr>
          <p:cNvPr id="4" name="Picture 3" descr="arv_gfx_mulheres_hiato_snapshot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015" y="1536192"/>
            <a:ext cx="76296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faixa etaria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Faixa Etária — Homens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Homens — Branca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homens_comb_serie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50" y="1536192"/>
            <a:ext cx="1070939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faixa etaria — Branca — Homens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Homens —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homens_comb_serie_neg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50" y="1536192"/>
            <a:ext cx="1070939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faixa etaria — Negra — Homens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Homens —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homens_comb_serie_indig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50" y="1536192"/>
            <a:ext cx="1070939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faixa etaria — Indígena — Homens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18-24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homens_18_24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18-24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25-39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homens_25_39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25-39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40-59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homens_40_59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40-59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60+ anos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x_homens_60mais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60+ anos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faixa etaria — Homens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homens_hiato_comb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por faixa etaria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faixa etaria — Homens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fx_homens_hiato_comb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por faixa etaria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18-24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homens_18_24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18-24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18-24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fx_homens_18_24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18-24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25-39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homens_25_39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25-39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25-39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fx_homens_25_39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25-39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40-59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homens_40_59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40-59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40-59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fx_homens_40_59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40-59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60+ anos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fx_homens_60mais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60+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60+ anos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fx_homens_60mais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60+ anos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faixa etaria — Homens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homens</a:t>
            </a:r>
          </a:p>
        </p:txBody>
      </p:sp>
      <p:pic>
        <p:nvPicPr>
          <p:cNvPr id="4" name="Picture 3" descr="arv_gfx_homens_hiato_snapshot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015" y="1536192"/>
            <a:ext cx="76296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faixa etaria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faixa etaria — Homens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homens</a:t>
            </a:r>
          </a:p>
        </p:txBody>
      </p:sp>
      <p:pic>
        <p:nvPicPr>
          <p:cNvPr id="4" name="Picture 3" descr="arv_gfx_homens_hiato_snapshot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015" y="1536192"/>
            <a:ext cx="76296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faixa etaria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7. Raça × Gênero × Geração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14 de renda · 24 de hiato · Quebra CRUZADA gênero×geração.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Geração — Mulheres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Mulheres — Branca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mulheres_comb_serie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geracao — Branca — Mulheres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Mulheres —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mulheres_comb_serie_neg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geracao — Negra — Mulheres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Mulheres —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mulheres_comb_serie_indig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geracao — Indígena — Mulheres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Baby Boomer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mulheres_baby_boomer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Baby Boomer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X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mulheres_geracao_x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X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Millennial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mulheres_millennia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Millennial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Z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mulheres_geracao_z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Z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geracao — Mulheres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ge_mulheres_hiato_comb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por geracao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geracao — Mulheres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ge_mulheres_hiato_comb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por geracao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Baby Boomer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ge_mulheres_baby_boomer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Baby Boomer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Baby Boomer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ge_mulheres_baby_boomer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Baby Boomer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Geração X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ge_mulheres_geracao_x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Geração X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Geração X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ge_mulheres_geracao_x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Geração X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Millennial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ge_mulheres_millennia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Millennial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Millennial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ge_mulheres_millennia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Millennial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Geração Z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ge_mulheres_geracao_z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Geração Z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Geração Z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ge_mulheres_geracao_z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208" y="1536192"/>
            <a:ext cx="1048127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Geração Z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geracao — Mulheres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mulheres</a:t>
            </a:r>
          </a:p>
        </p:txBody>
      </p:sp>
      <p:pic>
        <p:nvPicPr>
          <p:cNvPr id="4" name="Picture 3" descr="arv_gge_mulheres_hiato_snapshot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015" y="1536192"/>
            <a:ext cx="76296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geracao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geracao — Mulheres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mulheres</a:t>
            </a:r>
          </a:p>
        </p:txBody>
      </p:sp>
      <p:pic>
        <p:nvPicPr>
          <p:cNvPr id="4" name="Picture 3" descr="arv_gge_mulheres_hiato_snapshot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015" y="1536192"/>
            <a:ext cx="76296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geracao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Geração — Homens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Homens — Branca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homens_comb_serie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geracao — Branca — Homens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Homens —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homens_comb_serie_neg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geracao — Negra — Homens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Homens —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homens_comb_serie_indig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geracao — Indígena — Homens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Baby Boomer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homens_baby_boomer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Baby Boomer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X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homens_geracao_x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X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Millennial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homens_millennia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Millennial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Z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_homens_geracao_z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Z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geracao — Homens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ge_homens_hiato_comb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por geracao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geracao — Homens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ge_homens_hiato_comb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por geracao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Baby Boomer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ge_homens_baby_boomer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Baby Boomer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Baby Boomer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ge_homens_baby_boomer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Baby Boomer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Geração X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ge_homens_geracao_x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Geração X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Geração X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ge_homens_geracao_x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Geração X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Millennial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ge_homens_millennia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Millennial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Millennial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ge_homens_millennia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Millennial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Geração Z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ge_homens_geracao_z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Geração Z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Geração Z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ge_homens_geracao_z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80" y="1536192"/>
            <a:ext cx="10629535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Geração Z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geracao — Homens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homens</a:t>
            </a:r>
          </a:p>
        </p:txBody>
      </p:sp>
      <p:pic>
        <p:nvPicPr>
          <p:cNvPr id="4" name="Picture 3" descr="arv_gge_homens_hiato_snapshot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015" y="1536192"/>
            <a:ext cx="76296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geracao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geracao — Homens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homens</a:t>
            </a:r>
          </a:p>
        </p:txBody>
      </p:sp>
      <p:pic>
        <p:nvPicPr>
          <p:cNvPr id="4" name="Picture 3" descr="arv_gge_homens_hiato_snapshot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015" y="1536192"/>
            <a:ext cx="76296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geracao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8. Raça × Gênero × Escolaridade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20 de renda · 36 de hiato · Quebra CRUZADA gênero×escolaridade.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Escolaridade — Mulheres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Mulheres — Branca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mulheres_comb_serie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44" y="1536192"/>
            <a:ext cx="1073340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nivel instrucao — Branca — Mulheres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Mulheres —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mulheres_comb_serie_neg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44" y="1536192"/>
            <a:ext cx="1073340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nivel instrucao — Negra — Mulheres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Mulheres —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mulheres_comb_serie_indig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44" y="1536192"/>
            <a:ext cx="1073340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nivel instrucao — Indígena — Mulheres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mulheres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mulheres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mulheres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mulheres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mulheres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mulheres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mulheres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nivel instrucao — Mulheres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mulheres_hiato_comb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53" y="1536192"/>
            <a:ext cx="1069738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por nivel instrucao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nivel instrucao — Mulheres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es_mulheres_hiato_comb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53" y="1536192"/>
            <a:ext cx="1069738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por nivel instrucao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mulheres_sem_instrucao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Sem instrução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es_mulheres_sem_instrucao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902" y="1536192"/>
            <a:ext cx="884989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mulheres_fundamental_in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Fundamental incompl.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es_mulheres_fundamental_in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mulheres_fundamental_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Fundamental 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es_mulheres_fundamental_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mulheres_medio_in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Médio incompl.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es_mulheres_medio_in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90" y="1536192"/>
            <a:ext cx="10553315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mulheres_medio_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Médio 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es_mulheres_medio_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mulheres_superior_in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Superior incompl.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es_mulheres_superior_in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77" y="1536192"/>
            <a:ext cx="1060134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mulheres_superior_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Mulheres ·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 · Superior 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es_mulheres_superior_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Mulheres ·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nivel instrucao — Mulheres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mulheres</a:t>
            </a:r>
          </a:p>
        </p:txBody>
      </p:sp>
      <p:pic>
        <p:nvPicPr>
          <p:cNvPr id="4" name="Picture 3" descr="arv_ges_mulheres_hiato_snapshot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6192"/>
            <a:ext cx="10972800" cy="4286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nivel instrucao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nivel instrucao — Mulheres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mulheres</a:t>
            </a:r>
          </a:p>
        </p:txBody>
      </p:sp>
      <p:pic>
        <p:nvPicPr>
          <p:cNvPr id="4" name="Picture 3" descr="arv_ges_mulheres_hiato_snapshot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6192"/>
            <a:ext cx="10972800" cy="4286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nivel instrucao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Escolaridade — Homens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Homens — Branca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homens_comb_serie_bran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44" y="1536192"/>
            <a:ext cx="1073340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nivel instrucao — Branca — Homens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Homens —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homens_comb_serie_neg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44" y="1536192"/>
            <a:ext cx="1073340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nivel instrucao — Negra — Homens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— Homens —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homens_comb_serie_indige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144" y="1536192"/>
            <a:ext cx="1073340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nivel instrucao — Indígena — Homens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homens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homens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homens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homens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homens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homens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s_homens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nivel instrucao — Homens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homens_hiato_comb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156" y="1536192"/>
            <a:ext cx="1068538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por nivel instrucao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nivel instrucao — Homens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es_homens_hiato_comb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53" y="1536192"/>
            <a:ext cx="1069738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por nivel instrucao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homens_sem_instrucao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Sem instrução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es_homens_sem_instrucao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homens_fundamental_in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Fundamental incompl.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es_homens_fundamental_in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homens_fundamental_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Fundamental 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es_homens_fundamental_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homens_medio_in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23" y="1536192"/>
            <a:ext cx="10665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Médio incompl.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es_homens_medio_in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71" y="1536192"/>
            <a:ext cx="1062535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homens_medio_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Médio 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es_homens_medio_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homens_superior_in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23" y="1536192"/>
            <a:ext cx="10665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Superior incompl.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es_homens_superior_in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47" y="1536192"/>
            <a:ext cx="107214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</a:t>
            </a:r>
          </a:p>
        </p:txBody>
      </p:sp>
      <p:pic>
        <p:nvPicPr>
          <p:cNvPr id="4" name="Picture 3" descr="arv_ges_homens_superior_compl_hiato_serie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Negra — Homens ·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 · Superior compl.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série de Indígena suavizada (média móvel centrada de 4 trimestres, amostra pequena)</a:t>
            </a:r>
          </a:p>
        </p:txBody>
      </p:sp>
      <p:pic>
        <p:nvPicPr>
          <p:cNvPr id="4" name="Picture 3" descr="arv_ges_homens_superior_compl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de renda Branca vs. Indígena — Homens ·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nivel instrucao — Homens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homens</a:t>
            </a:r>
          </a:p>
        </p:txBody>
      </p:sp>
      <p:pic>
        <p:nvPicPr>
          <p:cNvPr id="4" name="Picture 3" descr="arv_ges_homens_hiato_snapshot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6192"/>
            <a:ext cx="10972800" cy="4286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nivel instrucao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por nivel instrucao — Homens — Branca vs. Indígena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homens</a:t>
            </a:r>
          </a:p>
        </p:txBody>
      </p:sp>
      <p:pic>
        <p:nvPicPr>
          <p:cNvPr id="4" name="Picture 3" descr="arv_ges_homens_hiato_snapshot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536192"/>
            <a:ext cx="10972800" cy="4286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nivel instrucao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9. Raça × Gênero × Faixa Etária × Escolaridade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56 de renda · 60 de hiato · Quebra CRUZADA gênero×faixa×escolaridade — 70 células (série de renda + série de hiato Branca-vs-Negra por célula). Indígena via 2 heatmaps por gênero (vs. Negra / vs. Indígena).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Faixa Etária × Escolaridade — Mulheres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18-24 anos,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18_24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18-24 anos,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18-24 anos,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es_mulheres_sem_instrucao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902" y="1536192"/>
            <a:ext cx="884989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18-24 anos,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18-24 anos,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18_24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18-24 anos,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18-24 anos,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18_24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18-24 anos,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18-24 anos,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18_24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18-24 anos,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18-24 anos,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18_24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18-24 anos,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18-24 anos,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18_24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18-24 anos,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18-24 anos,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18_24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18-24 anos,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18-24 anos,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18_24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18-24 anos,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18-24 anos,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18_24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18-24 anos,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18-24 anos,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18_24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18-24 anos,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18-24 anos,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18_24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23" y="1536192"/>
            <a:ext cx="10665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18-24 anos,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18-24 anos,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18_24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18-24 anos,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18-24 anos,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18_24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23" y="1536192"/>
            <a:ext cx="10665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18-24 anos,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25-39 anos,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25_39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25-39 anos,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25-39 anos,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25_39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25-39 anos,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25-39 anos,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25_39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25-39 anos,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25-39 anos,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25_39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25-39 anos,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25-39 anos,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25_39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25-39 anos,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25-39 anos,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25_39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25-39 anos,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25-39 anos,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25_39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25-39 anos,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25-39 anos,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25_39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25-39 anos,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25-39 anos,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25_39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25-39 anos,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25-39 anos,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25_39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25-39 anos,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25-39 anos,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25_39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25-39 anos,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25-39 anos,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25_39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25-39 anos,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25-39 anos,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25_39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25-39 anos,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25-39 anos,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25_39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25-39 anos,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40-59 anos,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40_59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40-59 anos,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40-59 anos,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40_59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40-59 anos,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40-59 anos,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40_59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40-59 anos,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40-59 anos,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40_59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40-59 anos,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40-59 anos,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40_59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40-59 anos,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40-59 anos,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40_59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40-59 anos,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40-59 anos,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40_59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40-59 anos,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40-59 anos,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40_59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40-59 anos,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40-59 anos,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40_59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40-59 anos,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40-59 anos,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40_59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40-59 anos,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40-59 anos,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40_59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40-59 anos,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40-59 anos,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40_59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40-59 anos,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40-59 anos,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40_59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40-59 anos,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40-59 anos,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40_59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40-59 anos,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60+ anos,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60mais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60+ anos,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60+ anos,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60mais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60+ anos,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60+ anos,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60mais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60+ anos,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60+ anos,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60mais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23" y="1536192"/>
            <a:ext cx="10665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60+ anos,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60+ anos,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60mais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60+ anos,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60+ anos,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60mais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60+ anos,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60+ anos,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60mais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60+ anos,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60+ anos,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60mais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60+ anos,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60+ anos,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60mais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60+ anos,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60+ anos,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60mais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60+ anos,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60+ anos,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60mais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60+ anos,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60+ anos,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60mais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77" y="1536192"/>
            <a:ext cx="1060134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60+ anos,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60+ anos,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mulheres_60mais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60+ anos,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60+ anos,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mulheres_60mais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60+ anos,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Faixa Etária × Escolaridade — Homens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18-24 anos,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18_24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18-24 anos,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18-24 anos,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18_24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71" y="1536192"/>
            <a:ext cx="1062535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18-24 anos,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18-24 anos,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18_24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18-24 anos,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18-24 anos,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18_24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18-24 anos,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18-24 anos,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18_24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18-24 anos,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18-24 anos,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18_24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18-24 anos,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18-24 anos,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18_24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18-24 anos,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18-24 anos,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18_24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23" y="1536192"/>
            <a:ext cx="10665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18-24 anos,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18-24 anos,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18_24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18-24 anos,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18-24 anos,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18_24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18-24 anos,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18-24 anos,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18_24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18-24 anos,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18-24 anos,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18_24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18-24 anos,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18-24 anos,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18_24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18-24 anos,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18-24 anos,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18_24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23" y="1536192"/>
            <a:ext cx="10665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18-24 anos,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25-39 anos,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25_39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25-39 anos,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25-39 anos,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25_39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25-39 anos,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25-39 anos,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25_39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25-39 anos,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25-39 anos,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25_39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25-39 anos,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25-39 anos,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25_39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25-39 anos,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25-39 anos,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25_39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25-39 anos,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25-39 anos,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25_39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25-39 anos,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25-39 anos,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25_39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25-39 anos,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25-39 anos,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25_39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25-39 anos,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25-39 anos,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25_39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25-39 anos,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25-39 anos,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25_39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25-39 anos,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25-39 anos,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25_39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25-39 anos,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25-39 anos,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25_39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25-39 anos,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25-39 anos,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25_39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25-39 anos,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40-59 anos,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40_59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40-59 anos,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40-59 anos,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40_59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40-59 anos,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40-59 anos,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40_59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40-59 anos,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40-59 anos,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40_59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40-59 anos,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40-59 anos,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40_59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40-59 anos,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40-59 anos,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40_59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40-59 anos,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40-59 anos,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40_59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40-59 anos,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40-59 anos,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40_59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40-59 anos,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40-59 anos,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40_59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40-59 anos,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40-59 anos,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40_59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40-59 anos,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40-59 anos,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40_59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40-59 anos,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40-59 anos,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40_59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40-59 anos,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40-59 anos,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40_59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40-59 anos,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40-59 anos,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40_59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40-59 anos,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60+ anos,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60mais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60+ anos,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60+ anos,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60mais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60+ anos,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60+ anos,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60mais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60+ anos,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60+ anos,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60mais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60+ anos,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60+ anos,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60mais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60+ anos,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60+ anos,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60mais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60+ anos,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60+ anos,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60mais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60+ anos,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60+ anos,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60mais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60+ anos,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60+ anos,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60mais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60+ anos,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60+ anos,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60mais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60+ anos,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60+ anos,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60mais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60+ anos,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60+ anos,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60mais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71" y="1536192"/>
            <a:ext cx="1062535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60+ anos,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60+ anos,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fe_homens_60mais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60+ anos,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60+ anos,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fe_homens_60mais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60+ anos,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Faixa Etária × Escolaridade — Mulheres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Branca vs. Negra — Mulheres: faixa etaria × escolaridade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mulheres</a:t>
            </a:r>
          </a:p>
        </p:txBody>
      </p:sp>
      <p:pic>
        <p:nvPicPr>
          <p:cNvPr id="4" name="Picture 3" descr="arv_gfe_mulheres_hiato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867" y="1536192"/>
            <a:ext cx="8565961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faixa etaria e escolaridade, só mulheres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Branca vs. Indígena — Mulheres: faixa etaria × escolaridade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mulheres</a:t>
            </a:r>
          </a:p>
        </p:txBody>
      </p:sp>
      <p:pic>
        <p:nvPicPr>
          <p:cNvPr id="4" name="Picture 3" descr="arv_gfe_mulheres_hiato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867" y="1536192"/>
            <a:ext cx="8565961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faixa etaria e escolaridade, só mulheres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Faixa Etária × Escolaridade — Homens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Branca vs. Negra — Homens: faixa etaria × escolaridade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homens</a:t>
            </a:r>
          </a:p>
        </p:txBody>
      </p:sp>
      <p:pic>
        <p:nvPicPr>
          <p:cNvPr id="4" name="Picture 3" descr="arv_gfe_homens_hiato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867" y="1536192"/>
            <a:ext cx="8565961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faixa etaria e escolaridade, só homens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Branca vs. Indígena — Homens: faixa etaria × escolaridade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homens</a:t>
            </a:r>
          </a:p>
        </p:txBody>
      </p:sp>
      <p:pic>
        <p:nvPicPr>
          <p:cNvPr id="4" name="Picture 3" descr="arv_gfe_homens_hiato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867" y="1536192"/>
            <a:ext cx="8565961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faixa etaria e escolaridade, só homens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10. Raça × Gênero × Geração × Escolaridade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56 de renda · 60 de hiato · Quebra CRUZADA gênero×geração×escolaridade — 56 células.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Geração × Escolaridade — Mulheres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Baby Boomer,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baby_boomer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Baby Boomer,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Baby Boomer,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baby_boomer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Baby Boomer,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Baby Boomer,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baby_boomer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Baby Boomer,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Baby Boomer,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baby_boomer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Baby Boomer,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Baby Boomer,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baby_boomer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Baby Boomer,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Baby Boomer,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baby_boomer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Baby Boomer,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Baby Boomer,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baby_boomer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Baby Boomer,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Baby Boomer,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baby_boomer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Baby Boomer,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Baby Boomer,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baby_boomer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Baby Boomer,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Baby Boomer,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baby_boomer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Baby Boomer,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Baby Boomer,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baby_boomer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Baby Boomer,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Baby Boomer,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baby_boomer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Baby Boomer,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Baby Boomer,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baby_boomer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Baby Boomer,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Baby Boomer,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baby_boomer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Baby Boomer,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X,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x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X,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X,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x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X,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X,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x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X,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X,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x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X,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X,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x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X,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X,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x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X,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X,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x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X,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X,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x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X,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X,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x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X,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X,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x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X,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X,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x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X,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X,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x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X,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X,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x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X,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X,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x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X,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Millennial,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millennial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Millennial,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Millennial,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millennial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Millennial,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Millennial,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millennial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Millennial,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Millennial,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millennial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Millennial,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Millennial,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millennial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Millennial,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Millennial,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millennial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Millennial,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Millennial,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millennial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Millennial,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Millennial,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millennial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Millennial,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Millennial,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millennial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Millennial,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Millennial,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millennial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Millennial,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Millennial,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millennial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Millennial,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Millennial,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millennial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Millennial,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Millennial,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millennial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Millennial,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Millennial,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millennial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Millennial,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Z,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z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Z,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Z,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es_mulheres_sem_instrucao_hiato_serie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0902" y="1536192"/>
            <a:ext cx="884989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Z,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Z,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z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Z,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Z,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z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77" y="1536192"/>
            <a:ext cx="1060134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Z,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Z,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z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Z,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Z,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z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Z,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Z,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z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Z,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Z,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z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Z,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Z,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z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Z,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Z,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z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Z,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Z,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z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Z,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Z,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z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Z,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Mulheres, Geração Z,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mulheres_geracao_z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Mulheres, Geração Z,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Mulheres, Geração Z,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mulheres_geracao_z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37" y="1536192"/>
            <a:ext cx="10593421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Mulheres, Geração Z,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Geração × Escolaridade — Homens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Baby Boomer,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baby_boomer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Baby Boomer,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Baby Boomer,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baby_boomer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Baby Boomer,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Baby Boomer,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baby_boomer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Baby Boomer,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Baby Boomer,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baby_boomer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Baby Boomer,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Baby Boomer,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baby_boomer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Baby Boomer,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Baby Boomer,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baby_boomer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Baby Boomer,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Baby Boomer,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baby_boomer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Baby Boomer,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Baby Boomer,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baby_boomer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Baby Boomer,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Baby Boomer,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baby_boomer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Baby Boomer,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Baby Boomer,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baby_boomer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Baby Boomer,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Baby Boomer,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baby_boomer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Baby Boomer,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Baby Boomer,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baby_boomer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Baby Boomer,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Baby Boomer,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baby_boomer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Baby Boomer,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Baby Boomer,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baby_boomer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Baby Boomer,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X,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x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X,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X,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x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23" y="1536192"/>
            <a:ext cx="10665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X,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X,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x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X,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X,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x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X,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X,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x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X,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X,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x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X,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X,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x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X,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X,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x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X,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X,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x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X,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X,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x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23" y="1536192"/>
            <a:ext cx="10665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X,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X,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x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X,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X,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x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23" y="1536192"/>
            <a:ext cx="10665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X,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X,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x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X,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X,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x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X,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Millennial,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millennial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966" y="1536192"/>
            <a:ext cx="10701763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Millennial,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Millennial,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millennial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Millennial,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Millennial,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millennial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Millennial,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Millennial,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millennial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Millennial,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Millennial,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millennial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Millennial,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Millennial,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millennial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Millennial,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Millennial,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millennial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Millennial,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Millennial,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millennial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Millennial,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Millennial,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millennial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Millennial,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Millennial,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millennial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Millennial,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Millennial,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millennial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Millennial,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Millennial,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millennial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Millennial,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Millennial,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millennial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Millennial,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Millennial,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millennial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23" y="1536192"/>
            <a:ext cx="10665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Millennial,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Z, Sem instrução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z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04" y="1536192"/>
            <a:ext cx="10677687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Z, Sem instrução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Z,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z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47" y="1536192"/>
            <a:ext cx="107214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Z, Sem instrução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Z, Fundamental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z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Z, Fundamental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Z,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z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Z, Fundamental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Z, Fundamental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z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Z, Fundamental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Z,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z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Z, Fundamental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Z, Médio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z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Z, Médio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Z,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z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Z, Médio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Z, Médio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z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Z, Médio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Z,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z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Z, Médio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Z, Superior incompl.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z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Z, Superior incompl.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Z,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z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77" y="1536192"/>
            <a:ext cx="1060134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Z, Superior incompl.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Homens, Geração Z, Superior compl.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ge2_homens_geracao_z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Homens, Geração Z, Superior compl.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Homens, Geração Z,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(Indígena por célula sem amostra — ver heatmaps do item)</a:t>
            </a:r>
          </a:p>
        </p:txBody>
      </p:sp>
      <p:pic>
        <p:nvPicPr>
          <p:cNvPr id="4" name="Picture 3" descr="arv_gge2_homens_geracao_z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186" y="1536192"/>
            <a:ext cx="10565322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Homens, Geração Z, Superior compl.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Geração × Escolaridade — Mulheres</a:t>
            </a: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Branca vs. Negra — Mulheres: geracao × escolaridade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mulheres</a:t>
            </a:r>
          </a:p>
        </p:txBody>
      </p:sp>
      <p:pic>
        <p:nvPicPr>
          <p:cNvPr id="4" name="Picture 3" descr="arv_gge2_mulheres_hiato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397" y="1536192"/>
            <a:ext cx="97289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geracao e escolaridade, só mulheres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Branca vs. Indígena — Mulheres: geracao × escolaridade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mulheres</a:t>
            </a:r>
          </a:p>
        </p:txBody>
      </p:sp>
      <p:pic>
        <p:nvPicPr>
          <p:cNvPr id="4" name="Picture 3" descr="arv_gge2_mulheres_hiato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397" y="1536192"/>
            <a:ext cx="97289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geracao e escolaridade, só mulheres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5C4F3F"/>
                </a:solidFill>
              </a:defRPr>
            </a:pPr>
            <a:r>
              <a:t>Raça × Gênero × Geração × Escolaridade — Homens</a:t>
            </a: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Branca vs. Negra — Homens: geracao × escolaridade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homens</a:t>
            </a:r>
          </a:p>
        </p:txBody>
      </p:sp>
      <p:pic>
        <p:nvPicPr>
          <p:cNvPr id="4" name="Picture 3" descr="arv_gge2_homens_hiato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397" y="1536192"/>
            <a:ext cx="97289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geracao e escolaridade, só homens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Branca vs. Indígena — Homens: geracao × escolaridade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 · só homens</a:t>
            </a:r>
          </a:p>
        </p:txBody>
      </p:sp>
      <p:pic>
        <p:nvPicPr>
          <p:cNvPr id="4" name="Picture 3" descr="arv_gge2_homens_hiato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397" y="1536192"/>
            <a:ext cx="97289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geracao e escolaridade, só homens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9086"/>
                </a:solidFill>
              </a:defRPr>
            </a:pPr>
            <a:r>
              <a:t>11. Raça × Geração × Escolaridade (ambos os gêneros)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C4F3F"/>
                </a:solidFill>
              </a:defRPr>
            </a:pPr>
            <a:r>
              <a:t>28 de renda · 30 de hiato · Geração × Escolaridade com AMBOS os gêneros juntos — 28 células (série de renda + série de hiato por célula) + 2 heatmaps. Fecha a combinação que faltava pra um dashboard geração×escolaridade×gênero.</a:t>
            </a: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Baby Boomer — Sem instrução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baby_boomer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Baby Boomer, Sem instrução,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Baby Boomer —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baby_boomer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Baby Boomer, Sem instrução,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Baby Boomer — Fundamental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baby_boomer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Baby Boomer, Fundamental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Baby Boomer —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baby_boomer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Baby Boomer, Fundamental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Baby Boomer — Fundamental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baby_boomer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Baby Boomer, Fundamental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Baby Boomer —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baby_boomer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Baby Boomer, Fundamental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Baby Boomer — Médio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baby_boomer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Baby Boomer, Médio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Baby Boomer —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baby_boomer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Baby Boomer, Médio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Baby Boomer — Médio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baby_boomer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Baby Boomer, Médio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Baby Boomer —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baby_boomer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Baby Boomer, Médio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Baby Boomer — Superior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baby_boomer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Baby Boomer, Superior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Baby Boomer —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baby_boomer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Baby Boomer, Superior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Baby Boomer — Superior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baby_boomer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Baby Boomer, Superior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Baby Boomer —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baby_boomer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Baby Boomer, Superior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X — Sem instrução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x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X, Sem instrução,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X —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x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X, Sem instrução,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X — Fundamental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x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X, Fundamental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X —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x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X, Fundamental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X — Fundamental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x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X, Fundamental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X —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x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X, Fundamental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X — Médio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x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X, Médio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X —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x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X, Médio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X — Médio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x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X, Médio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X —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x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X, Médio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X — Superior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x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X, Superior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X —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x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X, Superior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X — Superior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x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X, Superior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X —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x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X, Superior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Millennial — Sem instrução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millennial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Millennial, Sem instrução,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Millennial —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millennial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Millennial, Sem instrução,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Millennial — Fundamental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millennial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Millennial, Fundamental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Millennial —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millennial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Millennial, Fundamental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Millennial — Fundamental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millennial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Millennial, Fundamental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Millennial —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millennial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Millennial, Fundamental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Millennial — Médio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millennial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Millennial, Médio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Millennial —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millennial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Millennial, Médio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Millennial — Médio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millennial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Millennial, Médio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Millennial —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millennial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023" y="1536192"/>
            <a:ext cx="10665649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Millennial, Médio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Millennial — Superior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millennial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Millennial, Superior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Millennial —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millennial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Millennial, Superior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Millennial — Superior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millennial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59" y="1536192"/>
            <a:ext cx="1067337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Millennial, Superior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Millennial —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millennial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68" y="1536192"/>
            <a:ext cx="1063735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Millennial, Superior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Z — Sem instrução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z_sem_instruca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Z, Sem instrução,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Z — Sem instrução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z_sem_instrucao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47" y="1536192"/>
            <a:ext cx="107214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Z, Sem instrução,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Z — Fundamental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z_fundamental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004" y="1536192"/>
            <a:ext cx="10677687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Z, Fundamental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Z — Fundamental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z_fundamental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Z, Fundamental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Z — Fundamental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z_fundamental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Z, Fundamental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Z — Fundamental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z_fundamental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Z, Fundamental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Z — Médio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z_medio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Z, Médio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Z — Médio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z_medio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Z, Médio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Z — Médio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z_medio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Z, Médio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Z — Médio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z_medio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Z, Médio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Z — Superior incompl.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z_superior_in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Z, Superior incompl.,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Z — Superior incompl.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z_superior_in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74" y="1536192"/>
            <a:ext cx="10613346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Z, Superior incompl.,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Renda média real por raça — Geração Z — Superior compl. — ambos os gêneros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R$ reais, a preços do trimestre mais recente (deflator IBGE) · série 2012–2026</a:t>
            </a:r>
          </a:p>
        </p:txBody>
      </p:sp>
      <p:pic>
        <p:nvPicPr>
          <p:cNvPr id="4" name="Picture 3" descr="arv_ge_geracao_z_superior_compl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165" y="1536192"/>
            <a:ext cx="1064936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Renda média real por raça — Geração Z, Superior compl., ambos os gêneros — série histórica.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de renda — Geração Z — Superior compl. — Branca vs. Negra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hiato = renda média Branca − renda média do grupo, % relativo ao grupo · Welch trimestre a trimestre · ambos os gêneros · (Indígena por célula: ver heatmaps do item)</a:t>
            </a:r>
          </a:p>
        </p:txBody>
      </p:sp>
      <p:pic>
        <p:nvPicPr>
          <p:cNvPr id="4" name="Picture 3" descr="arv_ge_geracao_z_superior_compl_hiato_ser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180" y="1536192"/>
            <a:ext cx="10589334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— Geração Z, Superior compl., ambos os gêneros — 2012–2026 (Welch).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Branca vs. Negra — geração × escolaridade (ambos os gêneros)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ge_hiato_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397" y="1536192"/>
            <a:ext cx="97289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Negra por geração e escolaridade, ambos os gêneros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slides/slide5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 i="0">
                <a:solidFill>
                  <a:srgbClr val="2B2018"/>
                </a:solidFill>
              </a:defRPr>
            </a:pPr>
            <a:r>
              <a:t>Hiato Branca vs. Indígena — geração × escolaridade (ambos os gêneros) —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32688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 i="0">
                <a:solidFill>
                  <a:srgbClr val="5C4F3F"/>
                </a:solidFill>
              </a:defRPr>
            </a:pPr>
            <a:r>
              <a:t>% de diferença de renda · Welch: *** p&lt;0,001  ** p&lt;0,01  * p&lt;0,05  ·  n.s. = não signif. · 2º tri. 2026</a:t>
            </a:r>
          </a:p>
        </p:txBody>
      </p:sp>
      <p:pic>
        <p:nvPicPr>
          <p:cNvPr id="4" name="Picture 3" descr="arv_ge_hiato_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397" y="1536192"/>
            <a:ext cx="97289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4476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 i="1">
                <a:solidFill>
                  <a:srgbClr val="5C4F3F"/>
                </a:solidFill>
              </a:defRPr>
            </a:pPr>
            <a:r>
              <a:t>Hiato Branca vs. Indígena por geração e escolaridade, ambos os gêneros — 2º tri.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471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8F8271"/>
                </a:solidFill>
              </a:defRPr>
            </a:pPr>
            <a:r>
              <a:t>Fonte: IBGE, PNAD Contínua Trimestral (microdados). Renda (quando houver): habitual do trabalho principal, ocupados 18+ com renda &gt; 0, a preços do último trimestre. Elaboração própria.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