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B0B0B"/>
                </a:solidFill>
              </a:defRPr>
            </a:pPr>
            <a:r>
              <a:t>Datahub de Análise Racial no Brasil</a:t>
            </a:r>
          </a:p>
          <a:p>
            <a:pPr>
              <a:spcBef>
                <a:spcPts val="1200"/>
              </a:spcBef>
              <a:defRPr sz="2000">
                <a:solidFill>
                  <a:srgbClr val="52514E"/>
                </a:solidFill>
              </a:defRPr>
            </a:pPr>
            <a:r>
              <a:t>Fase 1 — PNAD Contínua (2012–2026) · Análise exploratória</a:t>
            </a:r>
          </a:p>
          <a:p>
            <a:pPr>
              <a:spcBef>
                <a:spcPts val="2400"/>
              </a:spcBef>
              <a:defRPr sz="1300">
                <a:solidFill>
                  <a:srgbClr val="52514E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A78D6"/>
                </a:solidFill>
              </a:defRPr>
            </a:pPr>
            <a:r>
              <a:t>Raça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Hiato grande e persistente entre Branca e Negra/Indígena; estreitamento leve 2012→2026.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Preta e Parda andam próximas, com Parda ultrapassando levemente nos últimos anos.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A78D6"/>
                </a:solidFill>
              </a:defRPr>
            </a:pPr>
            <a:r>
              <a:t>Hiato Branca vs. Negra — série histórica</a:t>
            </a:r>
          </a:p>
          <a:p>
            <a:pPr>
              <a:spcBef>
                <a:spcPts val="1000"/>
              </a:spcBef>
              <a:defRPr sz="1600">
                <a:solidFill>
                  <a:srgbClr val="52514E"/>
                </a:solidFill>
              </a:defRPr>
            </a:pPr>
            <a:r>
              <a:t>Com teste de significância (Welch, IC 95%)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percen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Hiato relativo caiu de ~76% para ~66% — todos os 58 trimestres são estatisticamente significativos.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absolu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Em R$, o hiato disparou na pandemia (pico ~R$2.035) antes de recuar.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A78D6"/>
                </a:solidFill>
              </a:defRPr>
            </a:pPr>
            <a:r>
              <a:t>É ocupação, ou é cor da pele?</a:t>
            </a:r>
          </a:p>
          <a:p>
            <a:pPr>
              <a:spcBef>
                <a:spcPts val="1000"/>
              </a:spcBef>
              <a:defRPr sz="1600">
                <a:solidFill>
                  <a:srgbClr val="52514E"/>
                </a:solidFill>
              </a:defRPr>
            </a:pPr>
            <a:r>
              <a:t>Decomposição: quanto idade, escolaridade e ocupação explicam do hiato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ecomposicao_hiato_ocupa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Hiato bruto 67% → 64% (só idade) → 30% (+escolaridade) → 24% (+ocupação, residual).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axaca_blinder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789" y="320040"/>
            <a:ext cx="913611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Mesma pergunta via regressão (Oaxaca-Blinder), com teste de significância: resíduo de +22% (p&lt;0,001) — bate com a padronização direta.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axaca_blinder_quant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5698" y="320040"/>
            <a:ext cx="8620298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O hiato residual não é uniforme: menor na mediana (~15%), maior na base (~31%, 'piso pegajoso') e no topo (~36%, 'teto de vidro').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A78D6"/>
                </a:solidFill>
              </a:defRPr>
            </a:pPr>
            <a:r>
              <a:t>Aprofundamentos: região, segregação e quebras estruturais</a:t>
            </a:r>
          </a:p>
          <a:p>
            <a:pPr>
              <a:spcBef>
                <a:spcPts val="1000"/>
              </a:spcBef>
              <a:defRPr sz="1600">
                <a:solidFill>
                  <a:srgbClr val="52514E"/>
                </a:solidFill>
              </a:defRPr>
            </a:pPr>
            <a:r>
              <a:t>Rodada 3 — a pedido do usuário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por_regi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O hiato racial varia MUITO por região: ~65-85% no Sudeste vs. ~45-55% no Sul.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gregacao_ocupa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Índice de Duncan: ~17% da população Branca ou Negra precisaria trocar de categoria ocupacional pra igualar a distribuição do outro grupo.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quebra_estrutu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092" y="320040"/>
            <a:ext cx="1105951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Teste tipo Chow: mudança de patamar/inclinação estatisticamente significativa nos 3 eventos testados (reforma trabalhista, reforma da previdência, recessão 2015-16).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A78D6"/>
                </a:solidFill>
              </a:defRPr>
            </a:pPr>
            <a:r>
              <a:t>Aprofundamentos: novas variáveis da PNAD</a:t>
            </a:r>
          </a:p>
          <a:p>
            <a:pPr>
              <a:spcBef>
                <a:spcPts val="1000"/>
              </a:spcBef>
              <a:defRPr sz="1600">
                <a:solidFill>
                  <a:srgbClr val="52514E"/>
                </a:solidFill>
              </a:defRPr>
            </a:pPr>
            <a:r>
              <a:t>Informalidade, jornada, alfabetização, desalento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formalidade_carteira_assin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% com carteira assinada: Branca 72%, Negra 63%, Indígena 52% (2026 T2).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ho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O hiato sobrevive quase intacto na renda POR HORA — não vem de jornada menor, é remuneração por hora menor mesmo.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fabetizacao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Analfabetismo residual (60+ anos): Branca 93%, Negra 80%, Indígena 72% alfabetizados.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esal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Entre quem está fora da força de trabalho, Negra e Indígena desistem de procurar emprego a taxas 2-4x maiores que Branca.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A78D6"/>
                </a:solidFill>
              </a:defRPr>
            </a:pPr>
            <a:r>
              <a:t>Raça × Gênero</a:t>
            </a:r>
          </a:p>
          <a:p>
            <a:pPr>
              <a:spcBef>
                <a:spcPts val="1000"/>
              </a:spcBef>
              <a:defRPr sz="1600">
                <a:solidFill>
                  <a:srgbClr val="52514E"/>
                </a:solidFill>
              </a:defRPr>
            </a:pPr>
            <a:r>
              <a:t>Combinado + um por gênero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515493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O hiato de gênero soma ao de raça, não substitui.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Recorte só Homens.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Recorte só Mulheres.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A78D6"/>
                </a:solidFill>
              </a:defRPr>
            </a:pPr>
            <a:r>
              <a:t>Preta × Parda × Gênero</a:t>
            </a:r>
          </a:p>
          <a:p>
            <a:pPr>
              <a:spcBef>
                <a:spcPts val="1000"/>
              </a:spcBef>
              <a:defRPr sz="1600">
                <a:solidFill>
                  <a:srgbClr val="52514E"/>
                </a:solidFill>
              </a:defRPr>
            </a:pPr>
            <a:r>
              <a:t>Combinado + um por gênero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Preta e Parda por gênero — quatro linhas, mesmo padrão de proximidade.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Recorte só Homens.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Recorte só Mulheres.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A78D6"/>
                </a:solidFill>
              </a:defRPr>
            </a:pPr>
            <a:r>
              <a:t>Raça × Faixa etária</a:t>
            </a:r>
          </a:p>
          <a:p>
            <a:pPr>
              <a:spcBef>
                <a:spcPts val="1000"/>
              </a:spcBef>
              <a:defRPr sz="1600">
                <a:solidFill>
                  <a:srgbClr val="52514E"/>
                </a:solidFill>
              </a:defRPr>
            </a:pPr>
            <a:r>
              <a:t>Combinado + um por faixa etária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Hiato racial se abre na faixa de maior potencial de renda (40-59 anos).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14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14-17 anos.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18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18-24 anos.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25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25-39 anos.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40_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40-59 anos — maior hiato.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60+ anos.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A78D6"/>
                </a:solidFill>
              </a:defRPr>
            </a:pPr>
            <a:r>
              <a:t>Preta × Parda × Faixa etária</a:t>
            </a:r>
          </a:p>
          <a:p>
            <a:pPr>
              <a:spcBef>
                <a:spcPts val="1000"/>
              </a:spcBef>
              <a:defRPr sz="1600">
                <a:solidFill>
                  <a:srgbClr val="52514E"/>
                </a:solidFill>
              </a:defRPr>
            </a:pPr>
            <a:r>
              <a:t>Combinado + uma por faixa etária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Preta vs. Parda por faixa etária, snapshot mais recente.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14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14-17 anos.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18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18-24 anos.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25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25-39 anos.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40_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40-59 anos.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60+ anos.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A78D6"/>
                </a:solidFill>
              </a:defRPr>
            </a:pPr>
            <a:r>
              <a:t>Raça × Escolaridade</a:t>
            </a:r>
          </a:p>
          <a:p>
            <a:pPr>
              <a:spcBef>
                <a:spcPts val="1000"/>
              </a:spcBef>
              <a:defRPr sz="1600">
                <a:solidFill>
                  <a:srgbClr val="52514E"/>
                </a:solidFill>
              </a:defRPr>
            </a:pPr>
            <a:r>
              <a:t>O achado central da Fase 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O hiato racial SOBREVIVE ao controle por escolaridade — abre no Superior completo.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Sem instrução.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Fundamental incompleto.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Fundamental completo.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Médio incompleto.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Médio completo.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Superior incompleto.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Superior completo — maior hiato de todos.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A78D6"/>
                </a:solidFill>
              </a:defRPr>
            </a:pPr>
            <a:r>
              <a:t>Preta × Parda × Escolaridade</a:t>
            </a:r>
          </a:p>
          <a:p>
            <a:pPr>
              <a:spcBef>
                <a:spcPts val="1000"/>
              </a:spcBef>
              <a:defRPr sz="1600">
                <a:solidFill>
                  <a:srgbClr val="52514E"/>
                </a:solidFill>
              </a:defRPr>
            </a:pPr>
            <a:r>
              <a:t>Combinado + um por nível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Preta vs. Parda por nível de instrução, snapshot mais recente.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Sem instrução.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Fundamental incompleto.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Fundamental completo.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Médio incompleto.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Médio completo.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Superior incompleto.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Superior completo.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A78D6"/>
                </a:solidFill>
              </a:defRPr>
            </a:pPr>
            <a:r>
              <a:t>Raça × Gênero × Escolaridade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Hiato no Superior completo é maior entre homens (~46%).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...do que entre mulheres (~36%).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A78D6"/>
                </a:solidFill>
              </a:defRPr>
            </a:pPr>
            <a:r>
              <a:t>Raça × Gênero × Faixa etária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faixa_etaria_rac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515493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Mesmo efeito de abertura em 40-59 anos, visível nos dois gêneros.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A78D6"/>
                </a:solidFill>
              </a:defRPr>
            </a:pPr>
            <a:r>
              <a:t>Escolaridade × Raça × Gênero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scolaridade_por_rac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2160" y="320040"/>
            <a:ext cx="9127374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Conclusão do superior: hiato racial &gt;2x; mulheres à frente dos homens em todos os grupos.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A78D6"/>
                </a:solidFill>
              </a:defRPr>
            </a:pPr>
            <a:r>
              <a:t>Todas as dimensões de uma vez</a:t>
            </a:r>
          </a:p>
          <a:p>
            <a:pPr>
              <a:spcBef>
                <a:spcPts val="1000"/>
              </a:spcBef>
              <a:defRPr sz="1600">
                <a:solidFill>
                  <a:srgbClr val="52514E"/>
                </a:solidFill>
              </a:defRPr>
            </a:pPr>
            <a:r>
              <a:t>Raça × Gênero × Faixa etária × Escolaridade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completa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5992" y="320040"/>
            <a:ext cx="471971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2514E"/>
                </a:solidFill>
              </a:defRPr>
            </a:pPr>
            <a:r>
              <a:t>Seis painéis (raça×gênero), faixa etária × nível de instrução em cada um — o padrão racial se mantém.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