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B2018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C4F3F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C4F3F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9086"/>
                </a:solidFill>
              </a:defRPr>
            </a:pPr>
            <a:r>
              <a:t>Índice — Renda média (1/2): Todas as raças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1. Raça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2. Raça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3. Raça × Gênero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4. Raça × Gênero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5. Raça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6. Raça × Faixa Etária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7. Raça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8. Raça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9. Raça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10. Raça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11. Raça × Gênero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12. Raça × Gênero × Faixa Etária — Hiato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13. Raça × Gênero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14. Raça × Gênero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15. Raça × Gênero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16. Raça × Gênero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17. Raça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18. Raça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19. Raça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20. Raça × Geração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21. Raça × Gênero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22. Raça × Gênero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23. Raça × Gênero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24. Raça × Gênero × Geração × Escolaridade — Hiato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9086"/>
                </a:solidFill>
              </a:defRPr>
            </a:pPr>
            <a:r>
              <a:t>Índice — Renda média (2/2): Apenas negros (Preta vs. Parda)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25. Raça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26. Raça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27. Raça × Gênero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28. Raça × Gênero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29. Raça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30. Raça × Faixa Etária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31. Raça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32. Raça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33. Raça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34. Raça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35. Raça × Gênero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36. Raça × Gênero × Faixa Etária — Hiato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37. Raça × Gênero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38. Raça × Gênero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39. Raça × Gênero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40. Raça × Gênero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41. Raça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42. Raça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43. Raça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44. Raça × Geração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45. Raça × Gênero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46. Raça × Gênero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47. Raça × Gênero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48. Raça × Gênero × Geração × Escolaridade — Hiato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1. Raça — Valores (Todas as raças)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 — série histórica 2012-2026.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2. Raça — Hiato (Todas as raças)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— série histórica, com significância (Welch, IC 95%).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3. Raça × Gênero — Valores (Todas as raças)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Homens e mulheres, Branca/Negra/Indígena, série histórica — o hiato de gênero soma ao de raça.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4. Raça × Gênero — Hiato (Todas as raças)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dentro de cada gênero, snapshot — maior entre homens (71%) que entre mulheres (62%).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5. Raça × Faixa Etária — Valores (Todas as raças)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nas faixas de maior potencial de renda (snapshot).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6. Raça × Faixa Etária — Hiato (Todas as raças)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faixa etária, snapshot — de 15-18% entre jovens a 81-94% depois dos 40.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7. Raça × Geração — Valores (Todas as raças)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geração na idade em que está hoje, snapshot (não controla por idade).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8. Raça × Geração — Hiato (Todas as raças)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geração, snapshot mais recente.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9. Raça × Escolaridade — Valores (Todas as raças)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achado central da Fase 1, snapshot: o hiato SOBREVIVE ao controle por escolaridade, abrindo no Superior completo.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10. Raça × Escolaridade — Hiato (Todas as raças)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44" y="320040"/>
            <a:ext cx="1120300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nível de instrução, snapshot.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11. Raça × Gênero × Faixa Etária — Valores (Todas as raças)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 (snapshot).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12. Raça × Gênero × Faixa Etária — Hiato (Todas as raças)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 e faixa etária, snapshot.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13. Raça × Gênero × Geração — Valores (Todas as raças)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2665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geração, snapshot.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14. Raça × Gênero × Geração — Hiato (Todas as raças)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 e geração, snapshot.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15. Raça × Gênero × Escolaridade — Valores (Todas as raças)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Homens — hiato no Superior completo é maior (~46%), snapshot.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Mulheres — hiato menor (~36%) que entre homens, snapshot.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16. Raça × Gênero × Escolaridade — Hiato (Todas as raças)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 e nível de instrução, snapshot.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17. Raça × Faixa Etária × Escolaridade — Valores (Todas as raças)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escolaridade, snapshot.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18. Raça × Faixa Etária × Escolaridade — Hiato (Todas as raças)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faixa etária e nível de instrução, snapshot.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19. Raça × Geração × Escolaridade — Valores (Todas as raças)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escolaridade, snapshot.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20. Raça × Geração × Escolaridade — Hiato (Todas as raças)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geração e nível de instrução, snapshot.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21. Raça × Gênero × Faixa Etária × Escolaridade — Valores (Todas as raças)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um, snapshot.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22. Raça × Gênero × Faixa Etária × Escolaridade — Hiato (Todas as raças)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gênero, faixa etária e nível de instrução, snapshot (painéis = gênero).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23. Raça × Gênero × Geração × Escolaridade — Valores (Todas as raças)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747" y="320040"/>
            <a:ext cx="464820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geração × nível de instrução em cada um, snapshot.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24. Raça × Gênero × Geração × Escolaridade — Hiato (Todas as raças)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gênero, geração e nível de instrução, snapshot (painéis = gênero).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25. Raça — Valores (Apenas negros (Preta vs. Parda))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— série histórica.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26. Raça — Hiato (Apenas negros (Preta vs. Parda))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reta_parda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— série histórica, com significância (Welch). O sinal virou: Preta chegou a ganhar mais que Parda até ~2015, hoje ganha menos (-6%).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27. Raça × Gênero — Valores (Apenas negros (Preta vs. Parda))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gênero, série histórica.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28. Raça × Gênero — Hiato (Apenas negros (Preta vs. Parda))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dentro de cada gênero, snapshot.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29. Raça × Faixa Etária — Valores (Apenas negros (Preta vs. Parda))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faixa etária, snapshot.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30. Raça × Faixa Etária — Hiato (Apenas negros (Preta vs. Parda))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faixa etária, snapshot.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31. Raça × Geração — Valores (Apenas negros (Preta vs. Parda))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622" y="320040"/>
            <a:ext cx="963445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geração, snapshot.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32. Raça × Geração — Hiato (Apenas negros (Preta vs. Parda))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geração, snapshot — negativo em todas: Parda ganha mais que Preta em toda geração viva.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33. Raça × Escolaridade — Valores (Apenas negros (Preta vs. Parda))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nível de instrução, snapshot.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34. Raça × Escolaridade — Hiato (Apenas negros (Preta vs. Parda))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44" y="320040"/>
            <a:ext cx="1120300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nível de instrução, snapshot.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35. Raça × Gênero × Faixa Etária — Valores (Apenas negros (Preta vs. Parda))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182" y="320040"/>
            <a:ext cx="7941331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 e faixa etária, snapshot.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36. Raça × Gênero × Faixa Etária — Hiato (Apenas negros (Preta vs. Parda))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 e faixa etária, snapshot.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37. Raça × Gênero × Geração — Valores (Apenas negros (Preta vs. Parda))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182" y="320040"/>
            <a:ext cx="7941331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 e geração, snapshot.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38. Raça × Gênero × Geração — Hiato (Apenas negros (Preta vs. Parda))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 e geração, snapshot.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39. Raça × Gênero × Escolaridade — Valores (Apenas negros (Preta vs. Parda))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641" y="320040"/>
            <a:ext cx="679041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 e nível de instrução, snapshot.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40. Raça × Gênero × Escolaridade — Hiato (Apenas negros (Preta vs. Parda))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 e nível de instrução, snapshot.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41. Raça × Faixa Etária × Escolaridade — Valores (Apenas negros (Preta vs. Parda))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291" y="320040"/>
            <a:ext cx="699311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faixa etária e escolaridade, snapshot.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42. Raça × Faixa Etária × Escolaridade — Hiato (Apenas negros (Preta vs. Parda))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faixa etária e nível de instrução, snapshot.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43. Raça × Geração × Escolaridade — Valores (Apenas negros (Preta vs. Parda))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291" y="320040"/>
            <a:ext cx="699311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geração e escolaridade, snapshot.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44. Raça × Geração × Escolaridade — Hiato (Apenas negros (Preta vs. Parda))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geração e nível de instrução, snapshot.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45. Raça × Gênero × Faixa Etária × Escolaridade — Valores (Apenas negros (Preta vs. Parda))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697" y="320040"/>
            <a:ext cx="697230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Quatro painéis (Preta/Parda×gênero), faixa etária × escolaridade em cada um, snapshot.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46. Raça × Gênero × Faixa Etária × Escolaridade — Hiato (Apenas negros (Preta vs. Parda))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gênero, faixa etária e nível de instrução, snapshot.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47. Raça × Gênero × Geração × Escolaridade — Valores (Apenas negros (Preta vs. Parda))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697" y="320040"/>
            <a:ext cx="697230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Quatro painéis (Preta/Parda×gênero), geração × escolaridade em cada um, snapshot.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48. Raça × Gênero × Geração × Escolaridade — Hiato (Apenas negros (Preta vs. Parda))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gênero, geração e nível de instrução, snapshot.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Abertura por gênero — o hiato é maior entre homens que entre mulheres em quase todo o período.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Abertura por faixa etária — cresce muito com a idade, de ~15-18% entre jovens a acima de 80% depois dos 40.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Abertura por nível de instrução — mais ruidoso (amostra menor por célula), mas o padrão de abertura no Superior completo aparece na maior parte da série.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Abertura por geração — a MESMA coorte de nascimento envelhecendo, não a mesma faixa etária com pessoas diferentes a cada trimestre.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Hiato Preta vs. Parda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Mesmo teste de Welch, dentro da população negra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reta_parda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sinal do hiato virou ao longo da série: Preta chegou a ganhar mais que Parda até ~2015, hoje ganha menos (-6%).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Abertura por gênero.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Abertura por faixa etária.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Abertura por nível de instrução.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Abertura por geração — a MESMA coorte de nascimento envelhecendo.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37905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bruto 67% → 64% (só idade) → 30% (+escolaridade) → 24% (+ocupação, residual). Ocupação SOZINHA (isolada, sem outros controles) já leva o hiato a 33%.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359" y="320040"/>
            <a:ext cx="902297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Mesma pergunta via regressão (Oaxaca-Blinder), com teste de significância: resíduo de +22% (p&lt;0,001) — bate com a padronização direta. Ocupação sozinha explica 40% do hiato (p&lt;0,001).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8" y="320040"/>
            <a:ext cx="8620298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residual não é uniforme: menor na mediana (~15%), maior na base (~31%, 'piso pegajoso') e no topo (~36%, 'teto de vidro').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0" y="320040"/>
            <a:ext cx="7808975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Dentro de CADA categoria ocupacional, Branca ganha mais que Negra — o hiato não é só 'estar em ocupações diferentes'.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cruzada com tudo: as combinações que faltavam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Heatmaps raça × 2 dimensões, um painel por raça — fecha a matriz completa pedida pelo usuário. Ocupação fica só no snapshot (pooled 8 trimestres): 11 categorias já deixam a célula por trimestre isolado fina demais pra uma série histórica confiável.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2665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604" y="320040"/>
            <a:ext cx="986848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escolaridade e ocupação — dentro do mesmo nível de instrução E mesma ocupação, o hiato racial ainda aparece na maioria das células.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região, segregação e quebras estruturais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Rodada 3 — a pedido do usuário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varia MUITO por região: ~65-85% no Sudeste vs. ~45-55% no Sul.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Índice de Duncan: ~17% da população Branca ou Negra precisaria trocar de categoria ocupacional pra igualar a distribuição do outro grupo.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Teste tipo Chow: mudança de patamar/inclinação estatisticamente significativa nos 3 eventos testados (reforma trabalhista, reforma da previdência, recessão 2015-16).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novas variáveis da PNAD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Informalidade, jornada, alfabetização, desalento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carteira assinada: Branca 72%, Negra 63%, Indígena 52% (2026 T2).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sobrevive quase intacto na renda POR HORA — não vem de jornada menor, é remuneração por hora menor mesmo.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Analfabetismo residual (60+ anos): Branca 93%, Negra 80%, Indígena 72% alfabetizados.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Entre quem está fora da força de trabalho, Negra e Indígena desistem de procurar emprego a taxas 2-4x maiores que Branca.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Geração: seguindo a mesma coorte, não a mesma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A PNAD é um corte transversal repetido — 'pessoas de 14-17 anos' em 2012 e 2026 são pessoas diferentes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linha é a MESMA coorte de nascimento envelhecendo — o hiato varia bastante entre gerações e ao longo do tempo dentro de cada uma.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geração e raça, cada uma na idade em que está hoje (snapshot).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622" y="320040"/>
            <a:ext cx="963445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geração (snapshot).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geração, série histórica com Welch.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Quem está no topo 10%?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Limiar (P90) calculado DENTRO de cada raça, não um corte único pro Brasil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no topo 10% de cada raça — Branca sempre um pouco à frente, mas a distância vem encolhendo.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no topo 10% — o topo dos negros ficou muito mais qualificado (38%→58%), mas ainda atrás do topo dos brancos (~83%).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16" y="320040"/>
            <a:ext cx="1057866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Distribuição completa pelos 7 níveis: o topo dos negros tem mais Médio completo (23%) que o dos brancos (10%) — o hiato de Superior completo não é a única diferença.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 do topo 10%, média dos últimos 8 trimestres.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 do topo 10% — o topo dos negros pende um pouco mais para Millennial/Geração Z; o dos brancos, para Baby Boomer/Geração X.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Decomposição dos 4 quartis de renda —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Generaliza o topo 10% pra toda a distribuição: Q1 (25% mais pobres) a Q4 (25% mais ricos), limiar DENTRO de cada raça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por quartil — maioria entre as mais pobres, minoria entre as mais ricas, nas duas raças; a distância entre raças é maior no Q4.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cresce em todos os quartis nas duas raças, mas o hiato racial se abre dramaticamente no Q4 (~72% Branca vs. ~40% Negra).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Distribuição completa pelos 7 níveis, um painel por quartil — mesmo padrão do topo 10% visível em cada fatia da distribuição.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etária, um painel por quartil — perfil etário parecido entre as raças em cada quartil.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Desigualdade interna, setor público/privado e sobre-qualificação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Sugestões de análise validadas antes de executar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Gini DENTRO de cada raça — Branca tem mais desigualdade interna que Negra (distribuição mais comprimida na base, não 'melhor situação').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Decomposição de Theil: só 7% da desigualdade total do Brasil vem de diferença ENTRE raças — 93% é desigualdade DENTRO de cada uma. Não diminui o hiato racial, mostra que a desigualdade brasileira tem várias causas.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Confirma a hipótese: o hiato racial é menor no setor Público (~45-50%, tabela salarial padronizada) do que no Privado (~58-65%).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Segregação por setor econômico (10%) é menor que por ocupação (17%) — as raças se distribuem mais parecido entre setores do que entre cargos dentro deles.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Negros com Superior completo têm taxa de 'sobre-qualificação' (acabar em ocupação elementar) quase o dobro da de brancos com o mesmo diploma.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 função quantil da renda, em R$, e sua inversa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'Os 10% mais pobres entre os negros ganham quanto comparado aos 10% mais pobres entre os brancos?'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4" y="320040"/>
            <a:ext cx="989616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R$: no P10, Branca ganha R$1.500 e Negra R$720. No P50 (mediana), R$3.000 vs. R$2.000. No P90, R$10.000 vs. R$5.000.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bruto (sem controles) por percentil não é uniforme — é maior na base (108% no P10) e no topo (100% no P90) do que no meio da distribuição.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 pergunta inversa: quem ganha R$3.000 está no P57 entre os brancos (mediano/meio da distribuição), mas já no P76 entre os negros (quase o topo).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no Superior completo é maior entre homens (~46%), snapshot.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...do que entre mulheres (~36%), snapshot.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 (snapshot).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Escolaridade × 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(Superior completo, o destaque) + um por nível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 — o padrão racial se mantém (snapshot).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