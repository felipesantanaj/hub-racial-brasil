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.xml" ContentType="application/vnd.openxmlformats-officedocument.presentationml.slide+xml"/>
  <Override PartName="/ppt/slides/slide620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  <p:sldId id="817" r:id="rId568"/>
    <p:sldId id="818" r:id="rId569"/>
    <p:sldId id="819" r:id="rId570"/>
    <p:sldId id="820" r:id="rId571"/>
    <p:sldId id="821" r:id="rId572"/>
    <p:sldId id="822" r:id="rId573"/>
    <p:sldId id="823" r:id="rId574"/>
    <p:sldId id="824" r:id="rId575"/>
    <p:sldId id="825" r:id="rId576"/>
    <p:sldId id="826" r:id="rId577"/>
    <p:sldId id="827" r:id="rId578"/>
    <p:sldId id="828" r:id="rId579"/>
    <p:sldId id="829" r:id="rId580"/>
    <p:sldId id="830" r:id="rId581"/>
    <p:sldId id="831" r:id="rId582"/>
    <p:sldId id="832" r:id="rId583"/>
    <p:sldId id="833" r:id="rId584"/>
    <p:sldId id="834" r:id="rId585"/>
    <p:sldId id="835" r:id="rId586"/>
    <p:sldId id="836" r:id="rId587"/>
    <p:sldId id="837" r:id="rId588"/>
    <p:sldId id="838" r:id="rId589"/>
    <p:sldId id="839" r:id="rId590"/>
    <p:sldId id="840" r:id="rId591"/>
    <p:sldId id="841" r:id="rId592"/>
    <p:sldId id="842" r:id="rId593"/>
    <p:sldId id="843" r:id="rId594"/>
    <p:sldId id="844" r:id="rId595"/>
    <p:sldId id="845" r:id="rId596"/>
    <p:sldId id="846" r:id="rId597"/>
    <p:sldId id="847" r:id="rId598"/>
    <p:sldId id="848" r:id="rId599"/>
    <p:sldId id="849" r:id="rId600"/>
    <p:sldId id="850" r:id="rId601"/>
    <p:sldId id="851" r:id="rId602"/>
    <p:sldId id="852" r:id="rId603"/>
    <p:sldId id="853" r:id="rId604"/>
    <p:sldId id="854" r:id="rId605"/>
    <p:sldId id="855" r:id="rId606"/>
    <p:sldId id="856" r:id="rId607"/>
    <p:sldId id="857" r:id="rId608"/>
    <p:sldId id="858" r:id="rId609"/>
    <p:sldId id="859" r:id="rId610"/>
    <p:sldId id="860" r:id="rId611"/>
    <p:sldId id="861" r:id="rId612"/>
    <p:sldId id="862" r:id="rId613"/>
    <p:sldId id="863" r:id="rId614"/>
    <p:sldId id="864" r:id="rId615"/>
    <p:sldId id="865" r:id="rId616"/>
    <p:sldId id="866" r:id="rId617"/>
    <p:sldId id="867" r:id="rId618"/>
    <p:sldId id="868" r:id="rId619"/>
    <p:sldId id="869" r:id="rId620"/>
    <p:sldId id="870" r:id="rId621"/>
    <p:sldId id="871" r:id="rId622"/>
    <p:sldId id="872" r:id="rId623"/>
    <p:sldId id="873" r:id="rId624"/>
    <p:sldId id="874" r:id="rId625"/>
    <p:sldId id="875" r:id="rId6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Relationship Id="rId568" Type="http://schemas.openxmlformats.org/officeDocument/2006/relationships/slide" Target="slides/slide562.xml"/><Relationship Id="rId569" Type="http://schemas.openxmlformats.org/officeDocument/2006/relationships/slide" Target="slides/slide563.xml"/><Relationship Id="rId570" Type="http://schemas.openxmlformats.org/officeDocument/2006/relationships/slide" Target="slides/slide564.xml"/><Relationship Id="rId571" Type="http://schemas.openxmlformats.org/officeDocument/2006/relationships/slide" Target="slides/slide565.xml"/><Relationship Id="rId572" Type="http://schemas.openxmlformats.org/officeDocument/2006/relationships/slide" Target="slides/slide566.xml"/><Relationship Id="rId573" Type="http://schemas.openxmlformats.org/officeDocument/2006/relationships/slide" Target="slides/slide567.xml"/><Relationship Id="rId574" Type="http://schemas.openxmlformats.org/officeDocument/2006/relationships/slide" Target="slides/slide568.xml"/><Relationship Id="rId575" Type="http://schemas.openxmlformats.org/officeDocument/2006/relationships/slide" Target="slides/slide569.xml"/><Relationship Id="rId576" Type="http://schemas.openxmlformats.org/officeDocument/2006/relationships/slide" Target="slides/slide570.xml"/><Relationship Id="rId577" Type="http://schemas.openxmlformats.org/officeDocument/2006/relationships/slide" Target="slides/slide571.xml"/><Relationship Id="rId578" Type="http://schemas.openxmlformats.org/officeDocument/2006/relationships/slide" Target="slides/slide572.xml"/><Relationship Id="rId579" Type="http://schemas.openxmlformats.org/officeDocument/2006/relationships/slide" Target="slides/slide573.xml"/><Relationship Id="rId580" Type="http://schemas.openxmlformats.org/officeDocument/2006/relationships/slide" Target="slides/slide574.xml"/><Relationship Id="rId581" Type="http://schemas.openxmlformats.org/officeDocument/2006/relationships/slide" Target="slides/slide575.xml"/><Relationship Id="rId582" Type="http://schemas.openxmlformats.org/officeDocument/2006/relationships/slide" Target="slides/slide576.xml"/><Relationship Id="rId583" Type="http://schemas.openxmlformats.org/officeDocument/2006/relationships/slide" Target="slides/slide577.xml"/><Relationship Id="rId584" Type="http://schemas.openxmlformats.org/officeDocument/2006/relationships/slide" Target="slides/slide578.xml"/><Relationship Id="rId585" Type="http://schemas.openxmlformats.org/officeDocument/2006/relationships/slide" Target="slides/slide579.xml"/><Relationship Id="rId586" Type="http://schemas.openxmlformats.org/officeDocument/2006/relationships/slide" Target="slides/slide580.xml"/><Relationship Id="rId587" Type="http://schemas.openxmlformats.org/officeDocument/2006/relationships/slide" Target="slides/slide581.xml"/><Relationship Id="rId588" Type="http://schemas.openxmlformats.org/officeDocument/2006/relationships/slide" Target="slides/slide582.xml"/><Relationship Id="rId589" Type="http://schemas.openxmlformats.org/officeDocument/2006/relationships/slide" Target="slides/slide583.xml"/><Relationship Id="rId590" Type="http://schemas.openxmlformats.org/officeDocument/2006/relationships/slide" Target="slides/slide584.xml"/><Relationship Id="rId591" Type="http://schemas.openxmlformats.org/officeDocument/2006/relationships/slide" Target="slides/slide585.xml"/><Relationship Id="rId592" Type="http://schemas.openxmlformats.org/officeDocument/2006/relationships/slide" Target="slides/slide586.xml"/><Relationship Id="rId593" Type="http://schemas.openxmlformats.org/officeDocument/2006/relationships/slide" Target="slides/slide587.xml"/><Relationship Id="rId594" Type="http://schemas.openxmlformats.org/officeDocument/2006/relationships/slide" Target="slides/slide588.xml"/><Relationship Id="rId595" Type="http://schemas.openxmlformats.org/officeDocument/2006/relationships/slide" Target="slides/slide589.xml"/><Relationship Id="rId596" Type="http://schemas.openxmlformats.org/officeDocument/2006/relationships/slide" Target="slides/slide590.xml"/><Relationship Id="rId597" Type="http://schemas.openxmlformats.org/officeDocument/2006/relationships/slide" Target="slides/slide591.xml"/><Relationship Id="rId598" Type="http://schemas.openxmlformats.org/officeDocument/2006/relationships/slide" Target="slides/slide592.xml"/><Relationship Id="rId599" Type="http://schemas.openxmlformats.org/officeDocument/2006/relationships/slide" Target="slides/slide593.xml"/><Relationship Id="rId600" Type="http://schemas.openxmlformats.org/officeDocument/2006/relationships/slide" Target="slides/slide594.xml"/><Relationship Id="rId601" Type="http://schemas.openxmlformats.org/officeDocument/2006/relationships/slide" Target="slides/slide595.xml"/><Relationship Id="rId602" Type="http://schemas.openxmlformats.org/officeDocument/2006/relationships/slide" Target="slides/slide596.xml"/><Relationship Id="rId603" Type="http://schemas.openxmlformats.org/officeDocument/2006/relationships/slide" Target="slides/slide597.xml"/><Relationship Id="rId604" Type="http://schemas.openxmlformats.org/officeDocument/2006/relationships/slide" Target="slides/slide598.xml"/><Relationship Id="rId605" Type="http://schemas.openxmlformats.org/officeDocument/2006/relationships/slide" Target="slides/slide599.xml"/><Relationship Id="rId606" Type="http://schemas.openxmlformats.org/officeDocument/2006/relationships/slide" Target="slides/slide600.xml"/><Relationship Id="rId607" Type="http://schemas.openxmlformats.org/officeDocument/2006/relationships/slide" Target="slides/slide601.xml"/><Relationship Id="rId608" Type="http://schemas.openxmlformats.org/officeDocument/2006/relationships/slide" Target="slides/slide602.xml"/><Relationship Id="rId609" Type="http://schemas.openxmlformats.org/officeDocument/2006/relationships/slide" Target="slides/slide603.xml"/><Relationship Id="rId610" Type="http://schemas.openxmlformats.org/officeDocument/2006/relationships/slide" Target="slides/slide604.xml"/><Relationship Id="rId611" Type="http://schemas.openxmlformats.org/officeDocument/2006/relationships/slide" Target="slides/slide605.xml"/><Relationship Id="rId612" Type="http://schemas.openxmlformats.org/officeDocument/2006/relationships/slide" Target="slides/slide606.xml"/><Relationship Id="rId613" Type="http://schemas.openxmlformats.org/officeDocument/2006/relationships/slide" Target="slides/slide607.xml"/><Relationship Id="rId614" Type="http://schemas.openxmlformats.org/officeDocument/2006/relationships/slide" Target="slides/slide608.xml"/><Relationship Id="rId615" Type="http://schemas.openxmlformats.org/officeDocument/2006/relationships/slide" Target="slides/slide609.xml"/><Relationship Id="rId616" Type="http://schemas.openxmlformats.org/officeDocument/2006/relationships/slide" Target="slides/slide610.xml"/><Relationship Id="rId617" Type="http://schemas.openxmlformats.org/officeDocument/2006/relationships/slide" Target="slides/slide611.xml"/><Relationship Id="rId618" Type="http://schemas.openxmlformats.org/officeDocument/2006/relationships/slide" Target="slides/slide612.xml"/><Relationship Id="rId619" Type="http://schemas.openxmlformats.org/officeDocument/2006/relationships/slide" Target="slides/slide613.xml"/><Relationship Id="rId620" Type="http://schemas.openxmlformats.org/officeDocument/2006/relationships/slide" Target="slides/slide614.xml"/><Relationship Id="rId621" Type="http://schemas.openxmlformats.org/officeDocument/2006/relationships/slide" Target="slides/slide615.xml"/><Relationship Id="rId622" Type="http://schemas.openxmlformats.org/officeDocument/2006/relationships/slide" Target="slides/slide616.xml"/><Relationship Id="rId623" Type="http://schemas.openxmlformats.org/officeDocument/2006/relationships/slide" Target="slides/slide617.xml"/><Relationship Id="rId624" Type="http://schemas.openxmlformats.org/officeDocument/2006/relationships/slide" Target="slides/slide618.xml"/><Relationship Id="rId625" Type="http://schemas.openxmlformats.org/officeDocument/2006/relationships/slide" Target="slides/slide619.xml"/><Relationship Id="rId626" Type="http://schemas.openxmlformats.org/officeDocument/2006/relationships/slide" Target="slides/slide6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1.png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3.png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5.png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6.png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7.png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9.png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2.png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3.png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4.png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5.png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6.png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7.png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0.png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1.png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2.png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5.png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6.png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/Relationships>
</file>

<file path=ppt/slides/_rels/slide5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8.png"/></Relationships>
</file>

<file path=ppt/slides/_rels/slide5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9.png"/></Relationships>
</file>

<file path=ppt/slides/_rels/slide5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0.png"/></Relationships>
</file>

<file path=ppt/slides/_rels/slide5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/Relationships>
</file>

<file path=ppt/slides/_rels/slide5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2.png"/></Relationships>
</file>

<file path=ppt/slides/_rels/slide5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3.png"/></Relationships>
</file>

<file path=ppt/slides/_rels/slide5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4.png"/></Relationships>
</file>

<file path=ppt/slides/_rels/slide5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/Relationships>
</file>

<file path=ppt/slides/_rels/slide5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/Relationships>
</file>

<file path=ppt/slides/_rels/slide5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7.png"/></Relationships>
</file>

<file path=ppt/slides/_rels/slide5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8.png"/></Relationships>
</file>

<file path=ppt/slides/_rels/slide5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9.png"/></Relationships>
</file>

<file path=ppt/slides/_rels/slide5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/Relationships>
</file>

<file path=ppt/slides/_rels/slide5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1.png"/></Relationships>
</file>

<file path=ppt/slides/_rels/slide5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2.png"/></Relationships>
</file>

<file path=ppt/slides/_rels/slide5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3.png"/></Relationships>
</file>

<file path=ppt/slides/_rels/slide5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4.png"/></Relationships>
</file>

<file path=ppt/slides/_rels/slide5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5.png"/></Relationships>
</file>

<file path=ppt/slides/_rels/slide5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6.png"/></Relationships>
</file>

<file path=ppt/slides/_rels/slide5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7.png"/></Relationships>
</file>

<file path=ppt/slides/_rels/slide5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8.png"/></Relationships>
</file>

<file path=ppt/slides/_rels/slide5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/Relationships>
</file>

<file path=ppt/slides/_rels/slide5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/Relationships>
</file>

<file path=ppt/slides/_rels/slide5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1.png"/></Relationships>
</file>

<file path=ppt/slides/_rels/slide5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2.png"/></Relationships>
</file>

<file path=ppt/slides/_rels/slide5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3.png"/></Relationships>
</file>

<file path=ppt/slides/_rels/slide5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4.png"/></Relationships>
</file>

<file path=ppt/slides/_rels/slide5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/Relationships>
</file>

<file path=ppt/slides/_rels/slide5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6.png"/></Relationships>
</file>

<file path=ppt/slides/_rels/slide5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7.png"/></Relationships>
</file>

<file path=ppt/slides/_rels/slide5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8.png"/></Relationships>
</file>

<file path=ppt/slides/_rels/slide6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9.png"/></Relationships>
</file>

<file path=ppt/slides/_rels/slide6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0.png"/></Relationships>
</file>

<file path=ppt/slides/_rels/slide6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1.png"/></Relationships>
</file>

<file path=ppt/slides/_rels/slide6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2.png"/></Relationships>
</file>

<file path=ppt/slides/_rels/slide6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3.png"/></Relationships>
</file>

<file path=ppt/slides/_rels/slide6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4.png"/></Relationships>
</file>

<file path=ppt/slides/_rels/slide6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5.png"/></Relationships>
</file>

<file path=ppt/slides/_rels/slide6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6.png"/></Relationships>
</file>

<file path=ppt/slides/_rels/slide6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7.png"/></Relationships>
</file>

<file path=ppt/slides/_rels/slide6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8.png"/></Relationships>
</file>

<file path=ppt/slides/_rels/slide6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9.png"/></Relationships>
</file>

<file path=ppt/slides/_rels/slide6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/Relationships>
</file>

<file path=ppt/slides/_rels/slide6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1.png"/></Relationships>
</file>

<file path=ppt/slides/_rels/slide6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2.png"/></Relationships>
</file>

<file path=ppt/slides/_rels/slide6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/Relationships>
</file>

<file path=ppt/slides/_rels/slide6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4.png"/></Relationships>
</file>

<file path=ppt/slides/_rels/slide6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2B2018"/>
                </a:solidFill>
              </a:defRPr>
            </a:pPr>
            <a:r>
              <a:t>Datahub de Análise Racial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5C4F3F"/>
                </a:solidFill>
              </a:defRPr>
            </a:pPr>
            <a:r>
              <a:t>Renda por raça — árvore cruzada (Raça × Gênero × Faixa/Geração × Escolaridade)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8271"/>
                </a:solidFill>
              </a:defRPr>
            </a:pPr>
            <a:r>
              <a:t>PNAD Contínua Trimestral (2012–2026) · cada gráfico aparece em um único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D9086"/>
                </a:solidFill>
              </a:defRPr>
            </a:pPr>
            <a:r>
              <a:t>Índice — árvore de renda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1. Raça  —  4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2. Raça × Gênero  —  11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3. Raça × Faixa Etária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4. Raça × Geração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5. Raça × Escolaridade  —  28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6. Raça × Gênero × Faixa Etária  —  38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7. Raça × Gênero × Geração  —  38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8. Raça × Gênero × Escolaridade  —  56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9. Raça × Gênero × Faixa Etária × Escolaridade  —  116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10. Raça × Gênero × Geração × Escolaridade  —  116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11. Raça × Geração × Escolaridade (ambos os gêneros)  —  58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1.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 de renda · 3 de hiato · Renda por raça (Branca / Negra=Preta+Parda / Indígena): série 2012–2026. Hiato: série separada por comparação (vs. Negra / vs. Indígena); o snapshot é 1 gráfico com as 2 barras. Série de Indígena suavizada (amostra pequena).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aca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aca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e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aca_hiat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066" y="1536192"/>
            <a:ext cx="642756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e Branca vs. Indígena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2.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3 de renda · 8 de hiato · Renda: série combinada (Homens tracejado, Mulheres sólido) + Mulheres + Homens. Hiato: série (combinada + por gênero) e snapshot, cada comparação em seu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comb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gênero — série (6 linhas).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mulhere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homen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mulhere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mulhere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homen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homen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3. Raça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Renda: série combinada em 3 slides (um por raça) + uma por faixa. Hiato: série (combinada + por faixa, com a faixa no título) e snapshot, cada comparação em seu slide.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4. Raça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Idem por geração (mesma coorte de nascimento).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5. Raça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10 de renda · 18 de hiato · Idem por nível de instrução (7 níveis).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6. Raça × Gênero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gênero×faixa. Por gênero: renda (série combinada + uma por faixa) + hiato por comparação (série combinada, série por faixa, snapshot).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7. Raça × Gênero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gênero×geração.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208" y="1536192"/>
            <a:ext cx="1048127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80" y="1536192"/>
            <a:ext cx="1062953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8. Raça × Gênero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20 de renda · 36 de hiato · Quebra CRUZADA gênero×escolaridade.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90" y="1536192"/>
            <a:ext cx="105533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9. Raça × Gênero × Faixa Etária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60 de hiato · Quebra CRUZADA gênero×faixa×escolaridade — 70 células (série de renda + série de hiato Branca-vs-Negra por célula). Indígena via 2 heatmaps por gênero (vs. Negra / vs. Indígena).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10. Raça × Gênero × Geração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60 de hiato · Quebra CRUZADA gênero×geração×escolaridade — 56 células.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37" y="1536192"/>
            <a:ext cx="1059342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86" y="1536192"/>
            <a:ext cx="1056532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11. Raça × Geração × Escolaridade (ambos os gêneros)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28 de renda · 30 de hiato · Geração × Escolaridade com AMBOS os gêneros juntos — 28 células (série de renda + série de hiato por célula) + 2 heatmaps. Fecha a combinação que faltava pra um dashboard geração×escolaridade×gênero.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180" y="1536192"/>
            <a:ext cx="1058933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Topo 10%, base 10% e quartis (limiares Brasil / gênero / raça×gênero)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Limiares calculados em 3 escopos NOVOS: Brasil inteiro / dentro de cada gênero / dentro de cada raça×gênero. Snapshot do trimestre mais recente.</a:t>
            </a:r>
          </a:p>
        </p:txBody>
      </p:sp>
    </p:spTree>
  </p:cSld>
  <p:clrMapOvr>
    <a:masterClrMapping/>
  </p:clrMapOvr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 quem são os 10% mais ricos e os 10% mais pobres do Brasil?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dentro do decil · limiar P90/P10 único, todo o Brasil · 2º tri. 2026</a:t>
            </a:r>
          </a:p>
        </p:txBody>
      </p:sp>
      <p:pic>
        <p:nvPicPr>
          <p:cNvPr id="4" name="Picture 3" descr="ext_dist_bras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Negra é ~56% da população ocupada, mas só ~33% do topo 10% e ~73% da base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mais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P90 calculado dentro de cada gênero · 2º tri. 2026</a:t>
            </a:r>
          </a:p>
        </p:txBody>
      </p:sp>
      <p:pic>
        <p:nvPicPr>
          <p:cNvPr id="4" name="Picture 3" descr="ext_dist_gener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menos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P10 calculado dentro de cada gênero · 2º tri. 2026</a:t>
            </a:r>
          </a:p>
        </p:txBody>
      </p:sp>
      <p:pic>
        <p:nvPicPr>
          <p:cNvPr id="4" name="Picture 3" descr="ext_dist_gener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raça) · 2º tri. 2026</a:t>
            </a:r>
          </a:p>
        </p:txBody>
      </p:sp>
      <p:pic>
        <p:nvPicPr>
          <p:cNvPr id="4" name="Picture 3" descr="ext_renda_raca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raça) · 2º tri. 2026</a:t>
            </a:r>
          </a:p>
        </p:txBody>
      </p:sp>
      <p:pic>
        <p:nvPicPr>
          <p:cNvPr id="4" name="Picture 3" descr="ext_renda_raca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 × gênero) · 2º tri. 2026</a:t>
            </a:r>
          </a:p>
        </p:txBody>
      </p:sp>
      <p:pic>
        <p:nvPicPr>
          <p:cNvPr id="4" name="Picture 3" descr="ext_renda_raca_sex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 × gênero) · 2º tri. 2026</a:t>
            </a:r>
          </a:p>
        </p:txBody>
      </p:sp>
      <p:pic>
        <p:nvPicPr>
          <p:cNvPr id="4" name="Picture 3" descr="ext_renda_raca_sex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885" y="1536192"/>
            <a:ext cx="779192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gênero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sex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em cada quartil de renda, por raça — mais mulheres nos quartis de baixo.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73" y="1536192"/>
            <a:ext cx="825114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204" y="1536192"/>
            <a:ext cx="821728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561" y="1536192"/>
            <a:ext cx="822857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89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1007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96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D9086"/>
                </a:solidFill>
              </a:defRPr>
            </a:pPr>
            <a:r>
              <a:t>Tabela de crescimento da renda por raça (2012 T1 → 2026 T2)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Uma linha por folha de renda da árvore (181 linhas): renda média real Branca, Negra e Indígena no primeiro e no último trimestre, % de crescimento de cada raça, e os hiatos em R$ (Branca-Negra e Branca-Indígena) no início vs. no fim.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Arquivo à parte (não cabe como slide legível):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docs/tabela_crescimento_renda.xlsx  (uma aba por item + aba 'Tudo')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docs/tabela_crescimento_renda.csv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Leitura geral: quem cresceu mais (em %) — Negra em 71 folhas, Indígena em 56, Branca em 46 — mas a diferença Branca-Negra em R$ AUMENTOU em 92 das 181. O hiato relativo cai enquanto a distância absoluta sobe.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Aprofundamentos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Instabilidade de renda, retorno da escolaridade, Capital×Interior, desocupação×escolaridade, formal×informal, salários mínimos, Oaxaca-Blinder ano a ano, dupla desvantagem, projeção de convergência.</a:t>
            </a:r>
          </a:p>
        </p:txBody>
      </p:sp>
    </p:spTree>
  </p:cSld>
  <p:clrMapOvr>
    <a:masterClrMapping/>
  </p:clrMapOvr>
</p:sld>
</file>

<file path=ppt/slides/slide5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efetiva ÷ habitual,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· 100% = recebeu tudo que costuma receber no mês · abaixo de 100% = perda por falta/interrupção · série 2012–2026</a:t>
            </a:r>
          </a:p>
        </p:txBody>
      </p:sp>
      <p:pic>
        <p:nvPicPr>
          <p:cNvPr id="4" name="Picture 3" descr="apr_efetiva_habi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Quanto menor, mais a renda do mês fica abaixo da 'habitual' — instabilidade de renda.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Retorno da escolaridade,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índice: renda média em cada nível ÷ renda no Médio completo (=100), dentro de cada raça · 2º tri. 2026</a:t>
            </a:r>
          </a:p>
        </p:txBody>
      </p:sp>
      <p:pic>
        <p:nvPicPr>
          <p:cNvPr id="4" name="Picture 3" descr="apr_premi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69" y="1536192"/>
            <a:ext cx="886955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 a curva de uma raça é mais inclinada, cada degrau de escolaridade 'vale' mais R$ pra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projeção linear da tendência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extrapolação simples da reta de tendência até o hiato zerar · tendência 2012–2026: fecharia por volta de 2109 (~83 anos) · tendência 2016–2026 (pós-recessão): fecharia por volta de 2078 (~52 anos)</a:t>
            </a:r>
          </a:p>
        </p:txBody>
      </p:sp>
      <p:pic>
        <p:nvPicPr>
          <p:cNvPr id="4" name="Picture 3" descr="apr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377" y="1536192"/>
            <a:ext cx="100689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NÃO é previsão — tendências não são garantia (a série tem quebras estruturais e pode estagnar). Cenário ilustrativo do ritmo recente.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Capital vs. Interior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· Welch trimestre a trimestre · série 2012–2026</a:t>
            </a:r>
          </a:p>
        </p:txBody>
      </p:sp>
      <p:pic>
        <p:nvPicPr>
          <p:cNvPr id="4" name="Picture 3" descr="apr_capital_in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racial de renda é maior nas capitais ou no interior?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Taxa de desocupação por raça e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da força de trabalho desocupada · 2º tri. 2026</a:t>
            </a:r>
          </a:p>
        </p:txBody>
      </p:sp>
      <p:pic>
        <p:nvPicPr>
          <p:cNvPr id="4" name="Picture 3" descr="apr_desocup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874" y="1536192"/>
            <a:ext cx="82839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Mais diploma fecha o gap de emprego como (em parte) fecha o de salário?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setor formal vs. informal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formal = contribui para a previdência · % de diferença · Welch · série 2012–2026</a:t>
            </a:r>
          </a:p>
        </p:txBody>
      </p:sp>
      <p:pic>
        <p:nvPicPr>
          <p:cNvPr id="4" name="Picture 3" descr="apr_formal_inf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informalidade explica parte do hiato, ou ele sobrevive dentro do emprego protegido?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até 1 salário mínimo,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t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Concentração perto do piso salarial.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acima de 3 salários mínimos,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cim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Presença no topo da distribuição de renda do trabalho.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de Oaxaca-Blinder do hiato Branca vs. Negra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controles: faixa etária + escolaridade + ocupação · parcela explicada por composição vs. não-explicada (não explicada = parte não associada às covariáveis incluídas)</a:t>
            </a:r>
          </a:p>
        </p:txBody>
      </p:sp>
      <p:pic>
        <p:nvPicPr>
          <p:cNvPr id="4" name="Picture 3" descr="apr_oaxac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087" y="1536192"/>
            <a:ext cx="1004352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parte não-explicada está caindo conforme a escolaridade de negros sobe, ou fica travada?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residual (não-explicado) por ponto da distribuição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RIF de P10/P50/P90, mesmos controles · o resíduo em forma de U ('piso pegajoso' na base, 'teto de vidro' no topo) é estável?</a:t>
            </a:r>
          </a:p>
        </p:txBody>
      </p:sp>
      <p:pic>
        <p:nvPicPr>
          <p:cNvPr id="4" name="Picture 3" descr="apr_rif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P10 = base, P50 = mediana, P90 = topo. Cada linha é o hiato que sobra depois dos controles.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Gap de renda Homem Branco ↔ Mulher Negra — decomposição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gap total (linha) = efeito raça + efeito gênero + interação (o 'extra' de ser as duas coisas) · série 2012–2026</a:t>
            </a:r>
          </a:p>
        </p:txBody>
      </p:sp>
      <p:pic>
        <p:nvPicPr>
          <p:cNvPr id="4" name="Picture 3" descr="apr_dupla_desvanta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429" y="1536192"/>
            <a:ext cx="104348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Do abismo entre o grupo mais e o menos favorecido, quanto é raça, quanto é gênero, quanto é a soma dos dois.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Validação cruzada — nosso pipeline vs. IBGE 'Desigualdades Sociais por Cor ou Raça' (2021)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taxa de desocupação e informalidade (% sem contribuição previdenciária), Brasil, 2021 · fontes independentes</a:t>
            </a:r>
          </a:p>
        </p:txBody>
      </p:sp>
      <p:pic>
        <p:nvPicPr>
          <p:cNvPr id="4" name="Picture 3" descr="apr_validacao_ib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738" y="1536192"/>
            <a:ext cx="966421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Reproduzimos os números oficiais dentro de ~1-3 p.p. — diferenças cabem em universo/definição (a 'informalidade' do IBGE é um composto mais amplo). O hiato de renda Branca vs. Preta em 2021 dá ~70% no nosso pipeline (Branca vs. Negra combinada) vs. 76% do IBGE (Branca vs. Preta só) — Preta ganha menos que Parda, daí a diferença.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Outras análises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Análises complementares, fora da árvore. Nesta seção o título fica na própria imagem.</a:t>
            </a:r>
          </a:p>
        </p:txBody>
      </p:sp>
    </p:spTree>
  </p:cSld>
  <p:clrMapOvr>
    <a:masterClrMapping/>
  </p:clrMapOvr>
</p:sld>
</file>

<file path=ppt/slides/slide5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É ocupação, ou é cor da pele? — decomposição do hiato</a:t>
            </a:r>
          </a:p>
        </p:txBody>
      </p:sp>
    </p:spTree>
  </p:cSld>
  <p:clrMapOvr>
    <a:masterClrMapping/>
  </p:clrMapOvr>
</p:sld>
</file>

<file path=ppt/slides/slide5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55" y="868680"/>
            <a:ext cx="10897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Padronização direta: 66% bruto → 31% (+escolaridade) → 25% (+ocupação, residual). Ocupação sozinha: 34%.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195" y="868680"/>
            <a:ext cx="843130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Regressão (Oaxaca-Blinder) com teste de significância: resíduo +23% (p&lt;0,001; parte não associada às covariáveis, não é medida de discriminação).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331" y="868680"/>
            <a:ext cx="805503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resíduo não é uniforme: ~15% na mediana, ~35% na base (piso pegajoso), ~34% no topo (teto de vidro).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391" y="868680"/>
            <a:ext cx="729691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Dentro de CADA categoria ocupacional, Branca ganha mais que Negra.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A × B — combinações com ocupação (pooled 8 trimestres)</a:t>
            </a:r>
          </a:p>
        </p:txBody>
      </p:sp>
    </p:spTree>
  </p:cSld>
  <p:clrMapOvr>
    <a:masterClrMapping/>
  </p:clrMapOvr>
</p:sld>
</file>

<file path=ppt/slides/slide5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06" y="868680"/>
            <a:ext cx="1113088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161" y="868680"/>
            <a:ext cx="922137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Mesmo nível de instrução E mesma ocupação — o hiato ainda aparece na maioria das células.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Região, segregação e quebras estruturais</a:t>
            </a:r>
          </a:p>
        </p:txBody>
      </p:sp>
    </p:spTree>
  </p:cSld>
  <p:clrMapOvr>
    <a:masterClrMapping/>
  </p:clrMapOvr>
</p:sld>
</file>

<file path=ppt/slides/slide5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varia MUITO por região: 60–83% no Sudeste vs. 39–52% no Sul (2012–2026).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Duncan: ~17% de um grupo precisaria trocar de categoria ocupacional pra igualar o outro.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Teste tipo Chow: mudança de patamar/inclinação significativa nos 3 eventos testados.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Novas variáveis da PNAD</a:t>
            </a:r>
          </a:p>
        </p:txBody>
      </p:sp>
    </p:spTree>
  </p:cSld>
  <p:clrMapOvr>
    <a:masterClrMapping/>
  </p:clrMapOvr>
</p:sld>
</file>

<file path=ppt/slides/slide5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carteira (só CLT, entre empregados): Branca 72%, Negra 63%, Indígena 48% (2026 T2).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sobrevive quase intacto na renda POR HORA — não é jornada, é remuneração.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60+ anos: Branca 93%, Negra 80%, Indígena 72% alfabetizados.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Fora da força de trabalho, Negra e Indígena desistem de procurar emprego a taxas 2-4x a de Branca.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Topo 10% — limiar DENTRO de cada raça (série histórica)</a:t>
            </a:r>
          </a:p>
        </p:txBody>
      </p:sp>
    </p:spTree>
  </p:cSld>
  <p:clrMapOvr>
    <a:masterClrMapping/>
  </p:clrMapOvr>
</p:sld>
</file>

<file path=ppt/slides/slide6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no topo 10% de cada raça.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no topo 10% — negros 37%→61%, brancos 84% (2012→2026).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358" y="868680"/>
            <a:ext cx="988497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 — o topo negro tem mais Médio completo (22%) que o branco (9%).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do topo 10%.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— topo negro pende a Millennial/Z; branco a Boomer/X.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4 quartis — limiar DENTRO de cada raça (série histórica)</a:t>
            </a:r>
          </a:p>
        </p:txBody>
      </p:sp>
    </p:spTree>
  </p:cSld>
  <p:clrMapOvr>
    <a:masterClrMapping/>
  </p:clrMapOvr>
</p:sld>
</file>

<file path=ppt/slides/slide6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por quartil — maioria entre as mais pobres nas duas raças.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cresce em todo quartil, mas o hiato se abre no Q4 (73% vs. 43%).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Desigualdade interna, setor público/privado, sobre-qualificação</a:t>
            </a:r>
          </a:p>
        </p:txBody>
      </p:sp>
    </p:spTree>
  </p:cSld>
  <p:clrMapOvr>
    <a:masterClrMapping/>
  </p:clrMapOvr>
</p:sld>
</file>

<file path=ppt/slides/slide6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Gini DENTRO de cada raça — Branca tem mais desigualdade interna (distribuição mais comprimida na base).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Só ~7% da desigualdade total do Brasil vem de diferença ENTRE raças — 93% é dentro de cada uma.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menor no Público (mediana 48%) que no Privado (mediana 60%) em todos os trimestres.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Segregação por setor (10%) &lt; por ocupação (17%).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Negros com Superior completo em ocupação elementar: quase o dobro da taxa de brancos.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A função quantil da renda em R$, e sua inversa</a:t>
            </a:r>
          </a:p>
        </p:txBody>
      </p:sp>
    </p:spTree>
  </p:cSld>
  <p:clrMapOvr>
    <a:masterClrMapping/>
  </p:clrMapOvr>
</p:sld>
</file>

<file path=ppt/slides/slide6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228" y="868680"/>
            <a:ext cx="9247238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Em R$: P10 R$1.500 vs R$766; P50 R$3.000 vs R$2.000; P90 R$10.000 vs R$5.000.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bruto por percentil não é uniforme — maior na base (96% no P10) e no topo (100% no P90).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R$3.000 = P58 entre brancos (meio), mas P77 entre negros (quase o topo).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