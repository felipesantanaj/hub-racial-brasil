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2B2018"/>
                </a:solidFill>
              </a:defRPr>
            </a:pPr>
            <a:r>
              <a:t>Datahub de Análise Racial no Brasil</a:t>
            </a:r>
          </a:p>
          <a:p>
            <a:pPr>
              <a:spcBef>
                <a:spcPts val="1200"/>
              </a:spcBef>
              <a:defRPr sz="2000">
                <a:solidFill>
                  <a:srgbClr val="5C4F3F"/>
                </a:solidFill>
              </a:defRPr>
            </a:pPr>
            <a:r>
              <a:t>Fase 1 — PNAD Contínua (2012–2026) · Análise exploratória</a:t>
            </a:r>
          </a:p>
          <a:p>
            <a:pPr>
              <a:spcBef>
                <a:spcPts val="2400"/>
              </a:spcBef>
              <a:defRPr sz="1300">
                <a:solidFill>
                  <a:srgbClr val="5C4F3F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grande e persistente entre Branca e Negra/Indígena; estreitamento leve 2012→2026.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e Parda andam próximas, com Parda ultrapassando levemente nos últimos anos.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Hiato Branca vs. Negra — série histórica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 teste de significância (Welch, IC 95%)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ercen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relativo caiu de ~76% para ~66% — todos os 58 trimestres são estatisticamente significativos.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absolu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Em R$, o hiato disparou na pandemia (pico ~R$2.035) antes de recuar.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É ocupação, ou é cor da pele?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Decomposição: quanto idade, escolaridade e ocupação explicam do hiato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ecomposicao_hiato_ocup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bruto 67% → 64% (só idade) → 30% (+escolaridade) → 24% (+ocupação, residual).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axaca_blinder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789" y="320040"/>
            <a:ext cx="913611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Mesma pergunta via regressão (Oaxaca-Blinder), com teste de significância: resíduo de +22% (p&lt;0,001) — bate com a padronização direta.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axaca_blinder_quant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5698" y="320040"/>
            <a:ext cx="8620298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residual não é uniforme: menor na mediana (~15%), maior na base (~31%, 'piso pegajoso') e no topo (~36%, 'teto de vidro').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Aprofundamentos: região, segregação e quebras estruturais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Rodada 3 — a pedido do usuário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or_regi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racial varia MUITO por região: ~65-85% no Sudeste vs. ~45-55% no Sul.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gregacao_ocup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Índice de Duncan: ~17% da população Branca ou Negra precisaria trocar de categoria ocupacional pra igualar a distribuição do outro grupo.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quebra_estrutu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092" y="320040"/>
            <a:ext cx="1105951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Teste tipo Chow: mudança de patamar/inclinação estatisticamente significativa nos 3 eventos testados (reforma trabalhista, reforma da previdência, recessão 2015-16).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Aprofundamentos: novas variáveis da PNAD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Informalidade, jornada, alfabetização, desalento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formalidade_carteira_assin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% com carteira assinada: Branca 72%, Negra 63%, Indígena 52% (2026 T2).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ho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sobrevive quase intacto na renda POR HORA — não vem de jornada menor, é remuneração por hora menor mesmo.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fabetizacao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Analfabetismo residual (60+ anos): Branca 93%, Negra 80%, Indígena 72% alfabetizados.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esal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Entre quem está fora da força de trabalho, Negra e Indígena desistem de procurar emprego a taxas 2-4x maiores que Branca.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Geração: seguindo a mesma coorte, não a mesma faixa etária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A PNAD é um corte transversal repetido — 'pessoas de 14-17 anos' em 2012 e 2026 são pessoas diferentes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or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Cada linha é a MESMA coorte de nascimento envelhecendo — o hiato varia bastante entre gerações e ao longo do tempo dentro de cada uma.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geracao_r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46" y="320040"/>
            <a:ext cx="10648603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geração e raça, cada uma na idade em que está hoje.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Quem está no topo 10%? Negra vs. Branca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Limiar (P90) calculado DENTRO de cada raça, não um corte único pro Brasil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o10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% de mulheres no topo 10% de cada raça — Branca sempre um pouco à frente, mas a distância vem encolhendo.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o10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% com Superior completo no topo 10% — o topo dos negros ficou muito mais qualificado (38%→58%), mas ainda atrás do topo dos brancos (~83%).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o10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Composição por faixa etária do topo 10%, média dos últimos 8 trimestres.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o10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Composição por geração do topo 10% — o topo dos negros pende um pouco mais para Millennial/Geração Z; o dos brancos, para Baby Boomer/Geração X.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Decomposição dos 4 quartis de renda — Negra vs. Branca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Generaliza o topo 10% pra toda a distribuição: Q1 (25% mais pobres) a Q4 (25% mais ricos), limiar DENTRO de cada raça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uartis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34829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% de mulheres por quartil — maioria entre as mais pobres, minoria entre as mais ricas, nas duas raças; a distância entre raças é maior no Q4.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uartis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34829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% com Superior completo cresce em todos os quartis nas duas raças, mas o hiato racial se abre dramaticamente no Q4 (~72% Branca vs. ~40% Negra).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uartis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337413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Composição por faixa etária, um painel por quartil — perfil etário parecido entre as raças em cada quartil.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uartis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337413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Composição por geração, um painel por quartil.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× Gênero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+ um por gênero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515493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de gênero soma ao de raça, não substitui.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Recorte só Homens.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Recorte só Mulheres.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Preta × Parda × Gênero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+ um por gênero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e Parda por gênero — quatro linhas, mesmo padrão de proximidade.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Recorte só Homens.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Recorte só Mulheres.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× Faixa etária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+ um por faixa etária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racial se abre na faixa de maior potencial de renda (40-59 anos).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14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14-17 anos.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18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18-24 anos.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25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25-39 anos.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40_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40-59 anos — maior hiato.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60+ anos.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Preta × Parda × Faixa etária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+ uma por faixa etária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 por faixa etária, snapshot mais recente.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14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14-17 anos.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18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18-24 anos.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25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25-39 anos.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40_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40-59 anos.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60+ anos.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× Escolaridade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O achado central da Fase 1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racial SOBREVIVE ao controle por escolaridade — abre no Superior completo.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Sem instrução.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Fundamental incompleto.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Fundamental completo.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Médio incompleto.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Médio completo.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Superior incompleto.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Superior completo — maior hiato de todos.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Preta × Parda × Escolaridade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+ um por nível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 por nível de instrução, snapshot mais recente.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Sem instrução.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Fundamental incompleto.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Fundamental completo.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Médio incompleto.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Médio completo.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Superior incompleto.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Superior completo.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× Gênero × Escolaridade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no Superior completo é maior entre homens (~46%).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...do que entre mulheres (~36%).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× Gênero × Faixa etária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faixa_etaria_rac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515493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Mesmo efeito de abertura em 40-59 anos, visível nos dois gêneros.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Escolaridade × Raça × Gênero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scolaridade_por_rac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160" y="320040"/>
            <a:ext cx="9127374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Conclusão do superior: hiato racial &gt;2x; mulheres à frente dos homens em todos os grupos.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Todas as dimensões de uma vez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Raça × Gênero × Faixa etária × Escolaridade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completa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5992" y="320040"/>
            <a:ext cx="471971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Seis painéis (raça×gênero), faixa etária × nível de instrução em cada um — o padrão racial se mantém.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